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  <p:sldMasterId id="2147483672" r:id="rId2"/>
  </p:sldMasterIdLst>
  <p:notesMasterIdLst>
    <p:notesMasterId r:id="rId25"/>
  </p:notesMasterIdLst>
  <p:sldIdLst>
    <p:sldId id="256" r:id="rId3"/>
    <p:sldId id="257" r:id="rId4"/>
    <p:sldId id="258" r:id="rId5"/>
    <p:sldId id="259" r:id="rId6"/>
    <p:sldId id="261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3" r:id="rId15"/>
    <p:sldId id="311" r:id="rId16"/>
    <p:sldId id="312" r:id="rId17"/>
    <p:sldId id="314" r:id="rId18"/>
    <p:sldId id="315" r:id="rId19"/>
    <p:sldId id="266" r:id="rId20"/>
    <p:sldId id="299" r:id="rId21"/>
    <p:sldId id="300" r:id="rId22"/>
    <p:sldId id="301" r:id="rId23"/>
    <p:sldId id="302" r:id="rId24"/>
  </p:sldIdLst>
  <p:sldSz cx="9144000" cy="5143500" type="screen16x9"/>
  <p:notesSz cx="6858000" cy="9144000"/>
  <p:embeddedFontLst>
    <p:embeddedFont>
      <p:font typeface="Fira Sans" panose="020B0503050000020004" pitchFamily="34" charset="0"/>
      <p:regular r:id="rId26"/>
      <p:bold r:id="rId27"/>
      <p:italic r:id="rId28"/>
      <p:boldItalic r:id="rId29"/>
    </p:embeddedFont>
    <p:embeddedFont>
      <p:font typeface="Roboto" panose="02000000000000000000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880">
          <p15:clr>
            <a:srgbClr val="A4A3A4"/>
          </p15:clr>
        </p15:guide>
        <p15:guide id="2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1.fntdata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6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aaae00c3d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aaae00c3d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96c5e74a8e_0_90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96c5e74a8e_0_90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956160e29b_0_2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956160e29b_0_2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96c5e74a8e_0_40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96c5e74a8e_0_40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96c5e74a8e_0_10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96c5e74a8e_0_10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>
          <a:extLst>
            <a:ext uri="{FF2B5EF4-FFF2-40B4-BE49-F238E27FC236}">
              <a16:creationId xmlns:a16="http://schemas.microsoft.com/office/drawing/2014/main" id="{11B75F0E-1A06-76CD-CC04-22297F5CAA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98856a3ece_1_1144:notes">
            <a:extLst>
              <a:ext uri="{FF2B5EF4-FFF2-40B4-BE49-F238E27FC236}">
                <a16:creationId xmlns:a16="http://schemas.microsoft.com/office/drawing/2014/main" id="{C085DC7F-3819-CBD8-FDDB-B0F60383A5D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98856a3ece_1_1144:notes">
            <a:extLst>
              <a:ext uri="{FF2B5EF4-FFF2-40B4-BE49-F238E27FC236}">
                <a16:creationId xmlns:a16="http://schemas.microsoft.com/office/drawing/2014/main" id="{FA8FF1C2-95EB-3CD9-E06E-F50F06D57E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58611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>
          <a:extLst>
            <a:ext uri="{FF2B5EF4-FFF2-40B4-BE49-F238E27FC236}">
              <a16:creationId xmlns:a16="http://schemas.microsoft.com/office/drawing/2014/main" id="{26715CC9-2095-21E6-0984-FB6940F6F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98856a3ece_1_1144:notes">
            <a:extLst>
              <a:ext uri="{FF2B5EF4-FFF2-40B4-BE49-F238E27FC236}">
                <a16:creationId xmlns:a16="http://schemas.microsoft.com/office/drawing/2014/main" id="{1AF6448B-69FC-3FED-9999-431D600D2F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98856a3ece_1_1144:notes">
            <a:extLst>
              <a:ext uri="{FF2B5EF4-FFF2-40B4-BE49-F238E27FC236}">
                <a16:creationId xmlns:a16="http://schemas.microsoft.com/office/drawing/2014/main" id="{ACB99B60-F0CD-62C5-7D68-CD7100284B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01671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>
          <a:extLst>
            <a:ext uri="{FF2B5EF4-FFF2-40B4-BE49-F238E27FC236}">
              <a16:creationId xmlns:a16="http://schemas.microsoft.com/office/drawing/2014/main" id="{B9272E3F-44F3-5B0E-6496-5E77409A8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98856a3ece_1_1144:notes">
            <a:extLst>
              <a:ext uri="{FF2B5EF4-FFF2-40B4-BE49-F238E27FC236}">
                <a16:creationId xmlns:a16="http://schemas.microsoft.com/office/drawing/2014/main" id="{1CC4A25C-460F-6C4A-8842-7D603DB9A3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98856a3ece_1_1144:notes">
            <a:extLst>
              <a:ext uri="{FF2B5EF4-FFF2-40B4-BE49-F238E27FC236}">
                <a16:creationId xmlns:a16="http://schemas.microsoft.com/office/drawing/2014/main" id="{254683AE-9973-321D-2C50-D5339989D1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68817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>
          <a:extLst>
            <a:ext uri="{FF2B5EF4-FFF2-40B4-BE49-F238E27FC236}">
              <a16:creationId xmlns:a16="http://schemas.microsoft.com/office/drawing/2014/main" id="{AA7480BD-2722-3D4D-5638-C5BBDC21C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98856a3ece_1_1144:notes">
            <a:extLst>
              <a:ext uri="{FF2B5EF4-FFF2-40B4-BE49-F238E27FC236}">
                <a16:creationId xmlns:a16="http://schemas.microsoft.com/office/drawing/2014/main" id="{2B5EE997-93B0-26CF-49FF-5784923A08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98856a3ece_1_1144:notes">
            <a:extLst>
              <a:ext uri="{FF2B5EF4-FFF2-40B4-BE49-F238E27FC236}">
                <a16:creationId xmlns:a16="http://schemas.microsoft.com/office/drawing/2014/main" id="{89DB2FAA-97AC-EF20-55FD-D8F371A34F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60040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>
          <a:extLst>
            <a:ext uri="{FF2B5EF4-FFF2-40B4-BE49-F238E27FC236}">
              <a16:creationId xmlns:a16="http://schemas.microsoft.com/office/drawing/2014/main" id="{C7DA7E2A-77FF-A968-284A-24BBAF6F1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98856a3ece_1_1144:notes">
            <a:extLst>
              <a:ext uri="{FF2B5EF4-FFF2-40B4-BE49-F238E27FC236}">
                <a16:creationId xmlns:a16="http://schemas.microsoft.com/office/drawing/2014/main" id="{0FB3BA1E-0AE2-9F80-7123-2AFAFE2027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98856a3ece_1_1144:notes">
            <a:extLst>
              <a:ext uri="{FF2B5EF4-FFF2-40B4-BE49-F238E27FC236}">
                <a16:creationId xmlns:a16="http://schemas.microsoft.com/office/drawing/2014/main" id="{253B6C66-71E0-58CA-E0F5-6401249FC6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662932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>
          <a:extLst>
            <a:ext uri="{FF2B5EF4-FFF2-40B4-BE49-F238E27FC236}">
              <a16:creationId xmlns:a16="http://schemas.microsoft.com/office/drawing/2014/main" id="{32BC493C-DA85-9F11-F911-D90989BB4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98856a3ece_1_1144:notes">
            <a:extLst>
              <a:ext uri="{FF2B5EF4-FFF2-40B4-BE49-F238E27FC236}">
                <a16:creationId xmlns:a16="http://schemas.microsoft.com/office/drawing/2014/main" id="{C194F805-A779-E197-E5F5-839089EEBB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98856a3ece_1_1144:notes">
            <a:extLst>
              <a:ext uri="{FF2B5EF4-FFF2-40B4-BE49-F238E27FC236}">
                <a16:creationId xmlns:a16="http://schemas.microsoft.com/office/drawing/2014/main" id="{481F4F76-116B-495F-12F8-56864964AC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98178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>
          <a:extLst>
            <a:ext uri="{FF2B5EF4-FFF2-40B4-BE49-F238E27FC236}">
              <a16:creationId xmlns:a16="http://schemas.microsoft.com/office/drawing/2014/main" id="{8AA6BE2B-706D-0656-2E97-7034739C3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98856a3ece_1_1144:notes">
            <a:extLst>
              <a:ext uri="{FF2B5EF4-FFF2-40B4-BE49-F238E27FC236}">
                <a16:creationId xmlns:a16="http://schemas.microsoft.com/office/drawing/2014/main" id="{244EA6C2-54CA-7D3E-F5B8-069312DEBB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98856a3ece_1_1144:notes">
            <a:extLst>
              <a:ext uri="{FF2B5EF4-FFF2-40B4-BE49-F238E27FC236}">
                <a16:creationId xmlns:a16="http://schemas.microsoft.com/office/drawing/2014/main" id="{4310FF53-D133-F3C1-111B-319699C5BE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57123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>
          <a:extLst>
            <a:ext uri="{FF2B5EF4-FFF2-40B4-BE49-F238E27FC236}">
              <a16:creationId xmlns:a16="http://schemas.microsoft.com/office/drawing/2014/main" id="{988E9B32-0562-58C2-82AA-61B8885B8A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98856a3ece_1_1144:notes">
            <a:extLst>
              <a:ext uri="{FF2B5EF4-FFF2-40B4-BE49-F238E27FC236}">
                <a16:creationId xmlns:a16="http://schemas.microsoft.com/office/drawing/2014/main" id="{56920D22-3B84-3310-ABD2-9D6526010A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98856a3ece_1_1144:notes">
            <a:extLst>
              <a:ext uri="{FF2B5EF4-FFF2-40B4-BE49-F238E27FC236}">
                <a16:creationId xmlns:a16="http://schemas.microsoft.com/office/drawing/2014/main" id="{B22D9A45-BB87-F769-899F-717B68BE6C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901376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>
          <a:extLst>
            <a:ext uri="{FF2B5EF4-FFF2-40B4-BE49-F238E27FC236}">
              <a16:creationId xmlns:a16="http://schemas.microsoft.com/office/drawing/2014/main" id="{8403E7AF-3092-C5D3-720C-5E7478720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98856a3ece_1_1144:notes">
            <a:extLst>
              <a:ext uri="{FF2B5EF4-FFF2-40B4-BE49-F238E27FC236}">
                <a16:creationId xmlns:a16="http://schemas.microsoft.com/office/drawing/2014/main" id="{52E8B9A8-5C57-848B-2C70-0AB1354B15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98856a3ece_1_1144:notes">
            <a:extLst>
              <a:ext uri="{FF2B5EF4-FFF2-40B4-BE49-F238E27FC236}">
                <a16:creationId xmlns:a16="http://schemas.microsoft.com/office/drawing/2014/main" id="{4E93B6F7-568A-A098-1EB3-F75045F331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20112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>
          <a:extLst>
            <a:ext uri="{FF2B5EF4-FFF2-40B4-BE49-F238E27FC236}">
              <a16:creationId xmlns:a16="http://schemas.microsoft.com/office/drawing/2014/main" id="{4FD302BF-CA4F-37E7-78C1-DF3ED9FC7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98856a3ece_1_1144:notes">
            <a:extLst>
              <a:ext uri="{FF2B5EF4-FFF2-40B4-BE49-F238E27FC236}">
                <a16:creationId xmlns:a16="http://schemas.microsoft.com/office/drawing/2014/main" id="{EB39CC81-7B1C-FC22-2FD7-6705F83B92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98856a3ece_1_1144:notes">
            <a:extLst>
              <a:ext uri="{FF2B5EF4-FFF2-40B4-BE49-F238E27FC236}">
                <a16:creationId xmlns:a16="http://schemas.microsoft.com/office/drawing/2014/main" id="{276CBFCF-6FF5-C1AF-E137-4417BDDCAF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34226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>
          <a:extLst>
            <a:ext uri="{FF2B5EF4-FFF2-40B4-BE49-F238E27FC236}">
              <a16:creationId xmlns:a16="http://schemas.microsoft.com/office/drawing/2014/main" id="{4721FED8-0A2B-0896-6839-4689DD5DC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98856a3ece_1_1144:notes">
            <a:extLst>
              <a:ext uri="{FF2B5EF4-FFF2-40B4-BE49-F238E27FC236}">
                <a16:creationId xmlns:a16="http://schemas.microsoft.com/office/drawing/2014/main" id="{70BC0BC7-3A76-6E00-E8DD-48F8ADE82A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98856a3ece_1_1144:notes">
            <a:extLst>
              <a:ext uri="{FF2B5EF4-FFF2-40B4-BE49-F238E27FC236}">
                <a16:creationId xmlns:a16="http://schemas.microsoft.com/office/drawing/2014/main" id="{EA880719-CD52-BDDC-82EC-C49C52D67F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52438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3">
          <a:extLst>
            <a:ext uri="{FF2B5EF4-FFF2-40B4-BE49-F238E27FC236}">
              <a16:creationId xmlns:a16="http://schemas.microsoft.com/office/drawing/2014/main" id="{979BAC95-27EB-2791-CF55-4619F947B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98856a3ece_1_1144:notes">
            <a:extLst>
              <a:ext uri="{FF2B5EF4-FFF2-40B4-BE49-F238E27FC236}">
                <a16:creationId xmlns:a16="http://schemas.microsoft.com/office/drawing/2014/main" id="{7AD3A023-4683-520A-E295-E1CA39AD5A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98856a3ece_1_1144:notes">
            <a:extLst>
              <a:ext uri="{FF2B5EF4-FFF2-40B4-BE49-F238E27FC236}">
                <a16:creationId xmlns:a16="http://schemas.microsoft.com/office/drawing/2014/main" id="{D0408832-224B-0BC4-50E5-BECA172CD3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76413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98856a3ece_1_2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3" name="Google Shape;1213;g98856a3ece_1_2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1">
          <a:extLst>
            <a:ext uri="{FF2B5EF4-FFF2-40B4-BE49-F238E27FC236}">
              <a16:creationId xmlns:a16="http://schemas.microsoft.com/office/drawing/2014/main" id="{0C9B7469-4A33-67E9-7967-1E8D70F19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98856a3ece_1_2310:notes">
            <a:extLst>
              <a:ext uri="{FF2B5EF4-FFF2-40B4-BE49-F238E27FC236}">
                <a16:creationId xmlns:a16="http://schemas.microsoft.com/office/drawing/2014/main" id="{57E68C06-7B91-43F4-DEA4-90896E12D3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3" name="Google Shape;1213;g98856a3ece_1_2310:notes">
            <a:extLst>
              <a:ext uri="{FF2B5EF4-FFF2-40B4-BE49-F238E27FC236}">
                <a16:creationId xmlns:a16="http://schemas.microsoft.com/office/drawing/2014/main" id="{59DFCCC6-8B16-13FB-3A39-2C32AC6AE6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98013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1">
          <a:extLst>
            <a:ext uri="{FF2B5EF4-FFF2-40B4-BE49-F238E27FC236}">
              <a16:creationId xmlns:a16="http://schemas.microsoft.com/office/drawing/2014/main" id="{7B85E0D2-F7AA-3F89-8939-FF4677495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98856a3ece_1_2310:notes">
            <a:extLst>
              <a:ext uri="{FF2B5EF4-FFF2-40B4-BE49-F238E27FC236}">
                <a16:creationId xmlns:a16="http://schemas.microsoft.com/office/drawing/2014/main" id="{C6817EF4-9B37-4212-39E7-877808C428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3" name="Google Shape;1213;g98856a3ece_1_2310:notes">
            <a:extLst>
              <a:ext uri="{FF2B5EF4-FFF2-40B4-BE49-F238E27FC236}">
                <a16:creationId xmlns:a16="http://schemas.microsoft.com/office/drawing/2014/main" id="{FE29BDD4-4310-A7ED-5354-E10EEBE1D1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51710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1">
          <a:extLst>
            <a:ext uri="{FF2B5EF4-FFF2-40B4-BE49-F238E27FC236}">
              <a16:creationId xmlns:a16="http://schemas.microsoft.com/office/drawing/2014/main" id="{275D4B61-5F1F-1853-8023-39FFF471B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98856a3ece_1_2310:notes">
            <a:extLst>
              <a:ext uri="{FF2B5EF4-FFF2-40B4-BE49-F238E27FC236}">
                <a16:creationId xmlns:a16="http://schemas.microsoft.com/office/drawing/2014/main" id="{B8877246-EA96-0369-54D6-1CECF55A23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3" name="Google Shape;1213;g98856a3ece_1_2310:notes">
            <a:extLst>
              <a:ext uri="{FF2B5EF4-FFF2-40B4-BE49-F238E27FC236}">
                <a16:creationId xmlns:a16="http://schemas.microsoft.com/office/drawing/2014/main" id="{C7E97161-D3F8-8679-D25A-66C9AB40A4D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652380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1">
          <a:extLst>
            <a:ext uri="{FF2B5EF4-FFF2-40B4-BE49-F238E27FC236}">
              <a16:creationId xmlns:a16="http://schemas.microsoft.com/office/drawing/2014/main" id="{5BBF68D4-4F97-12F7-0F64-DD5650261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98856a3ece_1_2310:notes">
            <a:extLst>
              <a:ext uri="{FF2B5EF4-FFF2-40B4-BE49-F238E27FC236}">
                <a16:creationId xmlns:a16="http://schemas.microsoft.com/office/drawing/2014/main" id="{2D042320-09F3-7796-355F-1B7FCD5B06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3" name="Google Shape;1213;g98856a3ece_1_2310:notes">
            <a:extLst>
              <a:ext uri="{FF2B5EF4-FFF2-40B4-BE49-F238E27FC236}">
                <a16:creationId xmlns:a16="http://schemas.microsoft.com/office/drawing/2014/main" id="{036153BC-A965-8C49-EFF6-D0413AC2C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1822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448950" y="410575"/>
            <a:ext cx="8238000" cy="10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448950" y="1467425"/>
            <a:ext cx="2845500" cy="10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6" name="Google Shape;8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9" name="Google Shape;89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0" name="Google Shape;90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●"/>
              <a:defRPr sz="1800"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">
          <p15:clr>
            <a:srgbClr val="EA4335"/>
          </p15:clr>
        </p15:guide>
        <p15:guide id="2" pos="5472">
          <p15:clr>
            <a:srgbClr val="EA4335"/>
          </p15:clr>
        </p15:guide>
        <p15:guide id="3" orient="horz" pos="259">
          <p15:clr>
            <a:srgbClr val="EA4335"/>
          </p15:clr>
        </p15:guide>
        <p15:guide id="4" orient="horz" pos="2981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7"/>
          <p:cNvSpPr txBox="1">
            <a:spLocks noGrp="1"/>
          </p:cNvSpPr>
          <p:nvPr>
            <p:ph type="ctrTitle"/>
          </p:nvPr>
        </p:nvSpPr>
        <p:spPr>
          <a:xfrm>
            <a:off x="432213" y="1183226"/>
            <a:ext cx="5485370" cy="1835400"/>
          </a:xfrm>
          <a:prstGeom prst="rect">
            <a:avLst/>
          </a:prstGeom>
        </p:spPr>
        <p:txBody>
          <a:bodyPr spcFirstLastPara="1" wrap="square" lIns="182875" tIns="182875" rIns="182875" bIns="182875" anchor="ctr" anchorCtr="0">
            <a:noAutofit/>
          </a:bodyPr>
          <a:lstStyle/>
          <a:p>
            <a:pPr lvl="0"/>
            <a:r>
              <a:rPr lang="en-US" dirty="0"/>
              <a:t>Car Price Prediction and Key Determinants in the U.S. Market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 txBox="1">
            <a:spLocks noGrp="1"/>
          </p:cNvSpPr>
          <p:nvPr>
            <p:ph type="title"/>
          </p:nvPr>
        </p:nvSpPr>
        <p:spPr>
          <a:xfrm>
            <a:off x="457200" y="411475"/>
            <a:ext cx="8229600" cy="4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>
                <a:solidFill>
                  <a:schemeClr val="dk1"/>
                </a:solidFill>
              </a:rPr>
              <a:t>Content</a:t>
            </a:r>
            <a:endParaRPr sz="2800" dirty="0"/>
          </a:p>
        </p:txBody>
      </p:sp>
      <p:sp>
        <p:nvSpPr>
          <p:cNvPr id="2" name="Google Shape;172;p28">
            <a:extLst>
              <a:ext uri="{FF2B5EF4-FFF2-40B4-BE49-F238E27FC236}">
                <a16:creationId xmlns:a16="http://schemas.microsoft.com/office/drawing/2014/main" id="{86595647-AAE4-F8CD-8402-BAD35780C270}"/>
              </a:ext>
            </a:extLst>
          </p:cNvPr>
          <p:cNvSpPr txBox="1"/>
          <p:nvPr/>
        </p:nvSpPr>
        <p:spPr>
          <a:xfrm>
            <a:off x="1029490" y="880482"/>
            <a:ext cx="3341787" cy="3382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lvl="0" indent="-342900" algn="l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latin typeface="Roboto"/>
                <a:ea typeface="Roboto"/>
                <a:cs typeface="Roboto"/>
                <a:sym typeface="Roboto"/>
              </a:rPr>
              <a:t>Data Information</a:t>
            </a:r>
          </a:p>
          <a:p>
            <a:pPr marL="342900" lvl="0" indent="-342900" algn="l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latin typeface="Roboto"/>
                <a:ea typeface="Roboto"/>
                <a:cs typeface="Roboto"/>
                <a:sym typeface="Roboto"/>
              </a:rPr>
              <a:t>Explore Data Analysis</a:t>
            </a:r>
          </a:p>
          <a:p>
            <a:pPr marL="342900" lvl="0" indent="-342900" algn="l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latin typeface="Roboto"/>
                <a:ea typeface="Roboto"/>
                <a:cs typeface="Roboto"/>
                <a:sym typeface="Roboto"/>
              </a:rPr>
              <a:t>Model Selection</a:t>
            </a:r>
          </a:p>
          <a:p>
            <a:pPr marL="342900" lvl="0" indent="-342900" algn="l" rtl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sz="1800" dirty="0">
                <a:latin typeface="Roboto"/>
                <a:ea typeface="Roboto"/>
                <a:cs typeface="Roboto"/>
                <a:sym typeface="Roboto"/>
              </a:rPr>
              <a:t>Evaluation and Result</a:t>
            </a:r>
            <a:endParaRPr sz="1800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9"/>
          <p:cNvSpPr txBox="1">
            <a:spLocks noGrp="1"/>
          </p:cNvSpPr>
          <p:nvPr>
            <p:ph type="title"/>
          </p:nvPr>
        </p:nvSpPr>
        <p:spPr>
          <a:xfrm>
            <a:off x="457200" y="84373"/>
            <a:ext cx="8229600" cy="4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</a:rPr>
              <a:t>DATA INFORMATION</a:t>
            </a:r>
            <a:endParaRPr lang="en-US" dirty="0"/>
          </a:p>
        </p:txBody>
      </p:sp>
      <p:sp>
        <p:nvSpPr>
          <p:cNvPr id="403" name="Google Shape;403;p29"/>
          <p:cNvSpPr txBox="1"/>
          <p:nvPr/>
        </p:nvSpPr>
        <p:spPr>
          <a:xfrm>
            <a:off x="720232" y="930146"/>
            <a:ext cx="8229600" cy="1277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dirty="0"/>
              <a:t>A Chinese automobile company, Geely Auto, plans to enter the U.S. market by establishing a local manufacturing unit to produce cars that can compete with American and European brands.</a:t>
            </a:r>
          </a:p>
          <a:p>
            <a:r>
              <a:rPr lang="en-US" dirty="0"/>
              <a:t>Specifically, the company wants to understand:</a:t>
            </a:r>
          </a:p>
          <a:p>
            <a:br>
              <a:rPr lang="en-US" dirty="0"/>
            </a:br>
            <a:r>
              <a:rPr lang="en-US" dirty="0"/>
              <a:t>➔ What are the key factors that determine car pricing?</a:t>
            </a:r>
            <a:br>
              <a:rPr lang="en-US" dirty="0"/>
            </a:br>
            <a:r>
              <a:rPr lang="en-US" dirty="0"/>
              <a:t>➔ Which technical specifications of a car have the most significant impact on its price?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DD406E-6F73-F68A-8B0A-55C136CE7F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40" y="3040566"/>
            <a:ext cx="8290519" cy="17273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0"/>
          <p:cNvSpPr txBox="1">
            <a:spLocks noGrp="1"/>
          </p:cNvSpPr>
          <p:nvPr>
            <p:ph type="title"/>
          </p:nvPr>
        </p:nvSpPr>
        <p:spPr>
          <a:xfrm>
            <a:off x="405161" y="481500"/>
            <a:ext cx="3490331" cy="4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en-US" dirty="0">
                <a:solidFill>
                  <a:schemeClr val="dk1"/>
                </a:solidFill>
              </a:rPr>
              <a:t>1. Car price data dictionary</a:t>
            </a:r>
            <a:endParaRPr 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C17D2A7-FA27-A255-4E07-4FF1A66C93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8981075"/>
              </p:ext>
            </p:extLst>
          </p:nvPr>
        </p:nvGraphicFramePr>
        <p:xfrm>
          <a:off x="335157" y="1098821"/>
          <a:ext cx="4103028" cy="297180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1568">
                  <a:extLst>
                    <a:ext uri="{9D8B030D-6E8A-4147-A177-3AD203B41FA5}">
                      <a16:colId xmlns:a16="http://schemas.microsoft.com/office/drawing/2014/main" val="1134513665"/>
                    </a:ext>
                  </a:extLst>
                </a:gridCol>
                <a:gridCol w="2921460">
                  <a:extLst>
                    <a:ext uri="{9D8B030D-6E8A-4147-A177-3AD203B41FA5}">
                      <a16:colId xmlns:a16="http://schemas.microsoft.com/office/drawing/2014/main" val="3057322777"/>
                    </a:ext>
                  </a:extLst>
                </a:gridCol>
              </a:tblGrid>
              <a:tr h="202439"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Column name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Description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1170730"/>
                  </a:ext>
                </a:extLst>
              </a:tr>
              <a:tr h="2024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Car_ID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Unique id of each observation (Integer)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578255575"/>
                  </a:ext>
                </a:extLst>
              </a:tr>
              <a:tr h="56682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Symboling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Its assigned insurance risk rating, A value of +3 indicates that the auto is risky, -3 that it is probably pretty safe.(Categorical)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26576404"/>
                  </a:ext>
                </a:extLst>
              </a:tr>
              <a:tr h="2024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carCompany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Name of car company (Categorical)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20778595"/>
                  </a:ext>
                </a:extLst>
              </a:tr>
              <a:tr h="2024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fueltype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Car fuel type i.e gas or diesel (Categorical)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23509818"/>
                  </a:ext>
                </a:extLst>
              </a:tr>
              <a:tr h="2024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aspiration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Aspiration used in a car (Categorical)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40840012"/>
                  </a:ext>
                </a:extLst>
              </a:tr>
              <a:tr h="2024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doornumber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Number of doors in a car (Categorical)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28881063"/>
                  </a:ext>
                </a:extLst>
              </a:tr>
              <a:tr h="1943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carbody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body of car (Categorical)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971291495"/>
                  </a:ext>
                </a:extLst>
              </a:tr>
              <a:tr h="2024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drivewheel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type of drive wheel (Categorical)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44736862"/>
                  </a:ext>
                </a:extLst>
              </a:tr>
              <a:tr h="2024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enginelocation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Location of car engine (Categorical)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16485320"/>
                  </a:ext>
                </a:extLst>
              </a:tr>
              <a:tr h="1943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wheelbase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Wheelbase of car (Numeric)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17280073"/>
                  </a:ext>
                </a:extLst>
              </a:tr>
              <a:tr h="19434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carlength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Length of car (Numeric)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93835584"/>
                  </a:ext>
                </a:extLst>
              </a:tr>
              <a:tr h="20243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carwidth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Width of car (Numeric)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89388724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A2DA2E5-B525-2154-9CFE-7113160243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070584"/>
              </p:ext>
            </p:extLst>
          </p:nvPr>
        </p:nvGraphicFramePr>
        <p:xfrm>
          <a:off x="4705817" y="1082040"/>
          <a:ext cx="4013200" cy="29794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5700">
                  <a:extLst>
                    <a:ext uri="{9D8B030D-6E8A-4147-A177-3AD203B41FA5}">
                      <a16:colId xmlns:a16="http://schemas.microsoft.com/office/drawing/2014/main" val="150509825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444078939"/>
                    </a:ext>
                  </a:extLst>
                </a:gridCol>
              </a:tblGrid>
              <a:tr h="13612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100" u="none" strike="noStrike" dirty="0">
                          <a:effectLst/>
                        </a:rPr>
                        <a:t>Column name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Description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1388659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 err="1">
                          <a:effectLst/>
                        </a:rPr>
                        <a:t>curbweight</a:t>
                      </a:r>
                      <a:r>
                        <a:rPr lang="en-US" sz="1100" u="none" strike="noStrike" dirty="0">
                          <a:effectLst/>
                        </a:rPr>
                        <a:t>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The weight of a car without occupants or baggage. (Numeric)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5671961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enginetype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Type of engine. (Categorical)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114539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cylindernumber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cylinder placed in the car (Categorical)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3996685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enginesize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Size of car (Numeric)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50013883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fuelsystem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Fuel system of car (Categorical)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2559585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boreratio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Bore Ratio of car (Numeric)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814986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stroke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Stroke or volume inside the engine (Numeric)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660457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compressionratio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compression ratio of car (Numeric)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2079112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horsepower 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Horsepower (Numeric) 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09059942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peakrpm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car peak rpm (Numeric)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9030987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citympg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Mileage in city (Numeric)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2152301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highwaympg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Mileage on highway (Numeric)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85853060"/>
                  </a:ext>
                </a:extLst>
              </a:tr>
              <a:tr h="3581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>
                          <a:effectLst/>
                        </a:rPr>
                        <a:t>price(Dependent variable) 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u="none" strike="noStrike" dirty="0">
                          <a:effectLst/>
                        </a:rPr>
                        <a:t>Price of car (Numeric) 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384975600"/>
                  </a:ext>
                </a:extLst>
              </a:tr>
            </a:tbl>
          </a:graphicData>
        </a:graphic>
      </p:graphicFrame>
      <p:sp>
        <p:nvSpPr>
          <p:cNvPr id="10" name="Google Shape;432;p30">
            <a:extLst>
              <a:ext uri="{FF2B5EF4-FFF2-40B4-BE49-F238E27FC236}">
                <a16:creationId xmlns:a16="http://schemas.microsoft.com/office/drawing/2014/main" id="{FFBE51ED-5ECF-6567-AD5A-37502E8CEDF8}"/>
              </a:ext>
            </a:extLst>
          </p:cNvPr>
          <p:cNvSpPr txBox="1">
            <a:spLocks/>
          </p:cNvSpPr>
          <p:nvPr/>
        </p:nvSpPr>
        <p:spPr>
          <a:xfrm>
            <a:off x="405161" y="0"/>
            <a:ext cx="8229600" cy="4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r>
              <a:rPr lang="en-US" dirty="0">
                <a:solidFill>
                  <a:schemeClr val="dk1"/>
                </a:solidFill>
              </a:rPr>
              <a:t>DATA INFORMATION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32"/>
          <p:cNvSpPr txBox="1"/>
          <p:nvPr/>
        </p:nvSpPr>
        <p:spPr>
          <a:xfrm>
            <a:off x="2207941" y="1754235"/>
            <a:ext cx="6936059" cy="15780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28600" lvl="0" indent="-228600" rtl="0">
              <a:spcBef>
                <a:spcPts val="0"/>
              </a:spcBef>
              <a:spcAft>
                <a:spcPts val="0"/>
              </a:spcAft>
              <a:buFont typeface="+mj-lt"/>
              <a:buAutoNum type="arabicPeriod" startAt="2"/>
            </a:pPr>
            <a:r>
              <a:rPr lang="en-US" sz="1200" dirty="0">
                <a:solidFill>
                  <a:schemeClr val="dk1"/>
                </a:solidFill>
                <a:latin typeface="+mn-lt"/>
                <a:ea typeface="Roboto"/>
                <a:cs typeface="Roboto"/>
                <a:sym typeface="Roboto"/>
              </a:rPr>
              <a:t>Findings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Dataset contains </a:t>
            </a:r>
            <a:r>
              <a:rPr lang="en-US" altLang="en-US" sz="1200" b="1" dirty="0">
                <a:solidFill>
                  <a:schemeClr val="tx1"/>
                </a:solidFill>
                <a:latin typeface="+mn-lt"/>
              </a:rPr>
              <a:t>205 records </a:t>
            </a: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and </a:t>
            </a:r>
            <a:r>
              <a:rPr lang="en-US" altLang="en-US" sz="1200" b="1" dirty="0">
                <a:solidFill>
                  <a:schemeClr val="tx1"/>
                </a:solidFill>
                <a:latin typeface="+mn-lt"/>
              </a:rPr>
              <a:t>15 numerical columns</a:t>
            </a: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.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Numerical features like </a:t>
            </a:r>
            <a:r>
              <a:rPr lang="en-US" altLang="en-US" sz="1200" b="1" dirty="0" err="1">
                <a:solidFill>
                  <a:schemeClr val="tx1"/>
                </a:solidFill>
                <a:latin typeface="+mn-lt"/>
              </a:rPr>
              <a:t>carlength</a:t>
            </a: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, </a:t>
            </a:r>
            <a:r>
              <a:rPr lang="en-US" altLang="en-US" sz="1200" b="1" dirty="0" err="1">
                <a:solidFill>
                  <a:schemeClr val="tx1"/>
                </a:solidFill>
                <a:latin typeface="+mn-lt"/>
              </a:rPr>
              <a:t>curbweight</a:t>
            </a: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, and </a:t>
            </a:r>
            <a:r>
              <a:rPr lang="en-US" altLang="en-US" sz="1200" b="1" dirty="0" err="1">
                <a:solidFill>
                  <a:schemeClr val="tx1"/>
                </a:solidFill>
                <a:latin typeface="+mn-lt"/>
              </a:rPr>
              <a:t>enginesize</a:t>
            </a: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 show wide but reasonable ranges.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Average </a:t>
            </a:r>
            <a:r>
              <a:rPr lang="en-US" altLang="en-US" sz="1200" b="1" dirty="0">
                <a:solidFill>
                  <a:schemeClr val="tx1"/>
                </a:solidFill>
                <a:latin typeface="+mn-lt"/>
              </a:rPr>
              <a:t>engine size</a:t>
            </a: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 is around </a:t>
            </a:r>
            <a:r>
              <a:rPr lang="en-US" altLang="en-US" sz="1200" b="1" dirty="0">
                <a:solidFill>
                  <a:schemeClr val="tx1"/>
                </a:solidFill>
                <a:latin typeface="+mn-lt"/>
              </a:rPr>
              <a:t>127 cc </a:t>
            </a: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and </a:t>
            </a:r>
            <a:r>
              <a:rPr lang="en-US" altLang="en-US" sz="1200" b="1" dirty="0">
                <a:solidFill>
                  <a:schemeClr val="tx1"/>
                </a:solidFill>
                <a:latin typeface="+mn-lt"/>
              </a:rPr>
              <a:t>horsepower</a:t>
            </a: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 around </a:t>
            </a:r>
            <a:r>
              <a:rPr lang="en-US" altLang="en-US" sz="1200" b="1" dirty="0">
                <a:solidFill>
                  <a:schemeClr val="tx1"/>
                </a:solidFill>
                <a:latin typeface="+mn-lt"/>
              </a:rPr>
              <a:t>104 HP</a:t>
            </a: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, indicating diverse car types.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Average price is </a:t>
            </a:r>
            <a:r>
              <a:rPr lang="en-US" altLang="en-US" sz="1200" b="1" dirty="0">
                <a:solidFill>
                  <a:schemeClr val="tx1"/>
                </a:solidFill>
                <a:latin typeface="+mn-lt"/>
              </a:rPr>
              <a:t>$13,276</a:t>
            </a: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, with values ranging from </a:t>
            </a:r>
            <a:r>
              <a:rPr lang="en-US" altLang="en-US" sz="1200" b="1" dirty="0">
                <a:solidFill>
                  <a:schemeClr val="tx1"/>
                </a:solidFill>
                <a:latin typeface="+mn-lt"/>
              </a:rPr>
              <a:t>$5,118 </a:t>
            </a: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to </a:t>
            </a:r>
            <a:r>
              <a:rPr lang="en-US" altLang="en-US" sz="1200" b="1" dirty="0">
                <a:solidFill>
                  <a:schemeClr val="tx1"/>
                </a:solidFill>
                <a:latin typeface="+mn-lt"/>
              </a:rPr>
              <a:t>$45,400</a:t>
            </a: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, suggesting high variability.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Fuel efficiency averages </a:t>
            </a:r>
            <a:r>
              <a:rPr lang="en-US" altLang="en-US" sz="1200" b="1" dirty="0">
                <a:solidFill>
                  <a:schemeClr val="tx1"/>
                </a:solidFill>
                <a:latin typeface="+mn-lt"/>
              </a:rPr>
              <a:t>25 city MPG </a:t>
            </a: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and </a:t>
            </a:r>
            <a:r>
              <a:rPr lang="en-US" altLang="en-US" sz="1200" b="1" dirty="0">
                <a:solidFill>
                  <a:schemeClr val="tx1"/>
                </a:solidFill>
                <a:latin typeface="+mn-lt"/>
              </a:rPr>
              <a:t>30 highway MPG</a:t>
            </a: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, consistent with typical car performance.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n-US" sz="1200" dirty="0">
              <a:solidFill>
                <a:schemeClr val="dk1"/>
              </a:solidFill>
              <a:latin typeface="+mn-lt"/>
              <a:ea typeface="Roboto"/>
              <a:cs typeface="Roboto"/>
              <a:sym typeface="Robo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sz="1200" dirty="0">
              <a:solidFill>
                <a:schemeClr val="dk1"/>
              </a:solidFill>
              <a:latin typeface="+mn-lt"/>
              <a:ea typeface="Roboto"/>
              <a:cs typeface="Roboto"/>
              <a:sym typeface="Roboto"/>
            </a:endParaRPr>
          </a:p>
        </p:txBody>
      </p:sp>
      <p:sp>
        <p:nvSpPr>
          <p:cNvPr id="641" name="Google Shape;641;p32"/>
          <p:cNvSpPr txBox="1"/>
          <p:nvPr/>
        </p:nvSpPr>
        <p:spPr>
          <a:xfrm>
            <a:off x="2207941" y="322557"/>
            <a:ext cx="4192859" cy="1267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28600" lvl="0" indent="-2286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1200" dirty="0">
                <a:latin typeface="+mn-lt"/>
                <a:ea typeface="Roboto"/>
                <a:cs typeface="Roboto"/>
                <a:sym typeface="Roboto"/>
              </a:rPr>
              <a:t>Data Inspection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Identified and handled missing values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Checked for duplicated records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Detected outliers using the IQR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Fixed misspelled categorical values 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lang="en-US" altLang="en-US" sz="1200" dirty="0">
                <a:solidFill>
                  <a:schemeClr val="tx1"/>
                </a:solidFill>
                <a:latin typeface="+mn-lt"/>
              </a:rPr>
              <a:t>Removed irrelevant or inappropriate</a:t>
            </a:r>
          </a:p>
        </p:txBody>
      </p:sp>
      <p:sp>
        <p:nvSpPr>
          <p:cNvPr id="643" name="Google Shape;643;p32"/>
          <p:cNvSpPr txBox="1">
            <a:spLocks noGrp="1"/>
          </p:cNvSpPr>
          <p:nvPr>
            <p:ph type="title"/>
          </p:nvPr>
        </p:nvSpPr>
        <p:spPr>
          <a:xfrm>
            <a:off x="-572827" y="-35524"/>
            <a:ext cx="4192859" cy="33256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>
                <a:solidFill>
                  <a:schemeClr val="dk1"/>
                </a:solidFill>
              </a:rPr>
              <a:t>EXPLORE DATA ANALYSIS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4D4F528-8670-3780-75A1-A87DED995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640" y="392621"/>
            <a:ext cx="1955180" cy="280066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C52CD85-0919-9E72-CC74-F3D2C16C5F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640" y="3357776"/>
            <a:ext cx="7883676" cy="165441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>
          <a:extLst>
            <a:ext uri="{FF2B5EF4-FFF2-40B4-BE49-F238E27FC236}">
              <a16:creationId xmlns:a16="http://schemas.microsoft.com/office/drawing/2014/main" id="{E3E69A9A-B7AC-F9D7-8918-8536265A9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3">
            <a:extLst>
              <a:ext uri="{FF2B5EF4-FFF2-40B4-BE49-F238E27FC236}">
                <a16:creationId xmlns:a16="http://schemas.microsoft.com/office/drawing/2014/main" id="{98CA2828-7F1A-D41B-0ADB-F9D53A3D905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42" y="-32978"/>
            <a:ext cx="2610742" cy="3543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600" dirty="0">
                <a:solidFill>
                  <a:schemeClr val="dk1"/>
                </a:solidFill>
              </a:rPr>
              <a:t>EXPLORE DATA ANALYSIS</a:t>
            </a:r>
            <a:endParaRPr sz="1600" dirty="0"/>
          </a:p>
        </p:txBody>
      </p:sp>
      <p:sp>
        <p:nvSpPr>
          <p:cNvPr id="4" name="Google Shape;1002;p33">
            <a:extLst>
              <a:ext uri="{FF2B5EF4-FFF2-40B4-BE49-F238E27FC236}">
                <a16:creationId xmlns:a16="http://schemas.microsoft.com/office/drawing/2014/main" id="{2EABCDBC-3753-3A30-8C94-4A92BD1D5AFE}"/>
              </a:ext>
            </a:extLst>
          </p:cNvPr>
          <p:cNvSpPr txBox="1"/>
          <p:nvPr/>
        </p:nvSpPr>
        <p:spPr>
          <a:xfrm>
            <a:off x="118945" y="3279302"/>
            <a:ext cx="2425858" cy="1341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100" b="1" dirty="0"/>
              <a:t>1. Price</a:t>
            </a:r>
          </a:p>
          <a:p>
            <a:r>
              <a:rPr lang="en-US" sz="1100" b="1" dirty="0"/>
              <a:t>Distribution:</a:t>
            </a:r>
            <a:r>
              <a:rPr lang="en-US" sz="1100" dirty="0"/>
              <a:t> Right-skewed.</a:t>
            </a:r>
          </a:p>
          <a:p>
            <a:r>
              <a:rPr lang="en-US" sz="1100" b="1" dirty="0"/>
              <a:t>Insight:</a:t>
            </a:r>
            <a:r>
              <a:rPr lang="en-US" sz="1100" dirty="0"/>
              <a:t> Most cars are priced below $15,000, while a few luxury cars exceed $30,000, indicating possible outliers.</a:t>
            </a:r>
          </a:p>
          <a:p>
            <a:endParaRPr lang="en-US" sz="11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154351-5733-E558-38F8-261092536A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45" y="811507"/>
            <a:ext cx="2425858" cy="24677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F27849-1BB7-6F76-217D-608EC4A904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7473" y="0"/>
            <a:ext cx="3009866" cy="22202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2A8039B-4959-C1A7-8571-65B9826614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9729" y="0"/>
            <a:ext cx="2897243" cy="21187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E3C92C3-7426-707C-9DBA-83F8085DF6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3746" y="2525605"/>
            <a:ext cx="3011309" cy="2220225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E365F6C-B7E3-B6F8-9E0D-923874D03B9E}"/>
              </a:ext>
            </a:extLst>
          </p:cNvPr>
          <p:cNvSpPr/>
          <p:nvPr/>
        </p:nvSpPr>
        <p:spPr>
          <a:xfrm>
            <a:off x="2680084" y="422818"/>
            <a:ext cx="9144" cy="448279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Google Shape;737;p33">
            <a:extLst>
              <a:ext uri="{FF2B5EF4-FFF2-40B4-BE49-F238E27FC236}">
                <a16:creationId xmlns:a16="http://schemas.microsoft.com/office/drawing/2014/main" id="{816D63B6-D144-F233-C57A-D2ED5C018D5D}"/>
              </a:ext>
            </a:extLst>
          </p:cNvPr>
          <p:cNvSpPr txBox="1">
            <a:spLocks/>
          </p:cNvSpPr>
          <p:nvPr/>
        </p:nvSpPr>
        <p:spPr>
          <a:xfrm>
            <a:off x="145870" y="260285"/>
            <a:ext cx="2033392" cy="565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algn="l"/>
            <a:r>
              <a:rPr lang="en-US" sz="1400" b="0" dirty="0"/>
              <a:t>Univariate Analysis</a:t>
            </a:r>
          </a:p>
          <a:p>
            <a:pPr algn="l"/>
            <a:r>
              <a:rPr lang="en-US" sz="1400" b="0" dirty="0"/>
              <a:t>Numerical Features:</a:t>
            </a:r>
          </a:p>
        </p:txBody>
      </p:sp>
      <p:sp>
        <p:nvSpPr>
          <p:cNvPr id="2" name="Google Shape;1002;p33">
            <a:extLst>
              <a:ext uri="{FF2B5EF4-FFF2-40B4-BE49-F238E27FC236}">
                <a16:creationId xmlns:a16="http://schemas.microsoft.com/office/drawing/2014/main" id="{7D67C3B6-021A-E41D-7354-4628DBE7DA54}"/>
              </a:ext>
            </a:extLst>
          </p:cNvPr>
          <p:cNvSpPr txBox="1"/>
          <p:nvPr/>
        </p:nvSpPr>
        <p:spPr>
          <a:xfrm>
            <a:off x="2869729" y="2293025"/>
            <a:ext cx="3068600" cy="2685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100" b="1" dirty="0"/>
              <a:t>2. Wheelbase</a:t>
            </a:r>
          </a:p>
          <a:p>
            <a:r>
              <a:rPr lang="en-US" sz="1100" b="1" dirty="0"/>
              <a:t>Distribution:</a:t>
            </a:r>
            <a:r>
              <a:rPr lang="en-US" sz="1100" dirty="0"/>
              <a:t> Slightly right-skewed.</a:t>
            </a:r>
          </a:p>
          <a:p>
            <a:r>
              <a:rPr lang="en-US" sz="1100" b="1" dirty="0"/>
              <a:t>Insight:</a:t>
            </a:r>
            <a:r>
              <a:rPr lang="en-US" sz="1100" dirty="0"/>
              <a:t> Majority of vehicles have a wheelbase between 95–100 inches, with a few larger models beyond 110 inches.</a:t>
            </a:r>
          </a:p>
          <a:p>
            <a:r>
              <a:rPr lang="en-US" sz="1100" b="1" dirty="0"/>
              <a:t>3. </a:t>
            </a:r>
            <a:r>
              <a:rPr lang="en-US" sz="1100" b="1" dirty="0" err="1"/>
              <a:t>Symboling</a:t>
            </a:r>
            <a:endParaRPr lang="en-US" sz="1100" b="1" dirty="0"/>
          </a:p>
          <a:p>
            <a:r>
              <a:rPr lang="en-US" sz="1100" b="1" dirty="0"/>
              <a:t>Distribution:</a:t>
            </a:r>
            <a:r>
              <a:rPr lang="en-US" sz="1100" dirty="0"/>
              <a:t> Multi-modal and discrete.</a:t>
            </a:r>
          </a:p>
          <a:p>
            <a:r>
              <a:rPr lang="en-US" sz="1100" b="1" dirty="0"/>
              <a:t>Insight:</a:t>
            </a:r>
            <a:r>
              <a:rPr lang="en-US" sz="1100" dirty="0"/>
              <a:t> Represents categorical insurance risk levels rather than a continuous variable.</a:t>
            </a:r>
          </a:p>
          <a:p>
            <a:r>
              <a:rPr lang="en-US" sz="1100" b="1" dirty="0"/>
              <a:t>4. </a:t>
            </a:r>
            <a:r>
              <a:rPr lang="en-US" sz="1100" b="1" dirty="0" err="1"/>
              <a:t>Carlength</a:t>
            </a:r>
            <a:endParaRPr lang="en-US" sz="1100" b="1" dirty="0"/>
          </a:p>
          <a:p>
            <a:r>
              <a:rPr lang="en-US" sz="1100" b="1" dirty="0"/>
              <a:t>Distribution:</a:t>
            </a:r>
            <a:r>
              <a:rPr lang="en-US" sz="1100" dirty="0"/>
              <a:t> Approximately normal.</a:t>
            </a:r>
          </a:p>
          <a:p>
            <a:r>
              <a:rPr lang="en-US" sz="1100" b="1" dirty="0"/>
              <a:t>Insight:</a:t>
            </a:r>
            <a:r>
              <a:rPr lang="en-US" sz="1100" dirty="0"/>
              <a:t> Most car lengths range from 170–180 inches, with few long vehicles above 190 inches.</a:t>
            </a:r>
          </a:p>
          <a:p>
            <a:endParaRPr lang="en-US" sz="1100" dirty="0"/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578641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>
          <a:extLst>
            <a:ext uri="{FF2B5EF4-FFF2-40B4-BE49-F238E27FC236}">
              <a16:creationId xmlns:a16="http://schemas.microsoft.com/office/drawing/2014/main" id="{7021BBE9-FE3C-DEE9-47EF-22DF4BB6E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3">
            <a:extLst>
              <a:ext uri="{FF2B5EF4-FFF2-40B4-BE49-F238E27FC236}">
                <a16:creationId xmlns:a16="http://schemas.microsoft.com/office/drawing/2014/main" id="{7AC142F4-7112-8C74-EFDB-0B2B1552D7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945" y="68482"/>
            <a:ext cx="2610742" cy="3543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600" dirty="0">
                <a:solidFill>
                  <a:schemeClr val="dk1"/>
                </a:solidFill>
              </a:rPr>
              <a:t>EXPLORE DATA ANALYSIS</a:t>
            </a:r>
            <a:endParaRPr sz="1600" dirty="0"/>
          </a:p>
        </p:txBody>
      </p:sp>
      <p:sp>
        <p:nvSpPr>
          <p:cNvPr id="4" name="Google Shape;1002;p33">
            <a:extLst>
              <a:ext uri="{FF2B5EF4-FFF2-40B4-BE49-F238E27FC236}">
                <a16:creationId xmlns:a16="http://schemas.microsoft.com/office/drawing/2014/main" id="{31323F64-00EE-DBEF-CA40-9957C550C82C}"/>
              </a:ext>
            </a:extLst>
          </p:cNvPr>
          <p:cNvSpPr txBox="1"/>
          <p:nvPr/>
        </p:nvSpPr>
        <p:spPr>
          <a:xfrm>
            <a:off x="233544" y="3102166"/>
            <a:ext cx="2610742" cy="1649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100" b="1" dirty="0"/>
              <a:t>1. </a:t>
            </a:r>
            <a:r>
              <a:rPr lang="en-US" sz="1100" b="1" dirty="0" err="1"/>
              <a:t>Carwidth</a:t>
            </a:r>
            <a:endParaRPr lang="en-US" sz="1100" b="1" dirty="0"/>
          </a:p>
          <a:p>
            <a:r>
              <a:rPr lang="en-US" sz="1100" b="1" dirty="0"/>
              <a:t>Distribution:</a:t>
            </a:r>
            <a:r>
              <a:rPr lang="en-US" sz="1100" dirty="0"/>
              <a:t> Nearly normal with a slight right skew.</a:t>
            </a:r>
          </a:p>
          <a:p>
            <a:r>
              <a:rPr lang="en-US" sz="1100" b="1" dirty="0"/>
              <a:t>Insight:</a:t>
            </a:r>
            <a:r>
              <a:rPr lang="en-US" sz="1100" dirty="0"/>
              <a:t> Most vehicles have widths between 64–67 inches, with a few wider models above 70 inches.</a:t>
            </a:r>
          </a:p>
          <a:p>
            <a:endParaRPr lang="en-US" sz="11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C972AF-AA6C-235D-89B9-35AC44C627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45" y="957094"/>
            <a:ext cx="2725341" cy="20081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4BC609D-C0F8-3679-4C90-9E2A0A5F5E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1471" y="68482"/>
            <a:ext cx="2710607" cy="19859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07954A2-2F58-F387-8CC9-ABA207A449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1471" y="2286329"/>
            <a:ext cx="2681252" cy="1985944"/>
          </a:xfrm>
          <a:prstGeom prst="rect">
            <a:avLst/>
          </a:prstGeom>
        </p:spPr>
      </p:pic>
      <p:sp>
        <p:nvSpPr>
          <p:cNvPr id="16" name="Google Shape;737;p33">
            <a:extLst>
              <a:ext uri="{FF2B5EF4-FFF2-40B4-BE49-F238E27FC236}">
                <a16:creationId xmlns:a16="http://schemas.microsoft.com/office/drawing/2014/main" id="{7E726811-C0C0-19AD-645A-36D8CF341754}"/>
              </a:ext>
            </a:extLst>
          </p:cNvPr>
          <p:cNvSpPr txBox="1">
            <a:spLocks/>
          </p:cNvSpPr>
          <p:nvPr/>
        </p:nvSpPr>
        <p:spPr>
          <a:xfrm>
            <a:off x="279685" y="391796"/>
            <a:ext cx="2033392" cy="565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algn="l"/>
            <a:r>
              <a:rPr lang="en-US" sz="1400" b="0" dirty="0"/>
              <a:t>Univariate Analysis</a:t>
            </a:r>
          </a:p>
          <a:p>
            <a:pPr algn="l"/>
            <a:r>
              <a:rPr lang="en-US" sz="1400" b="0" dirty="0"/>
              <a:t>Numerical Features:</a:t>
            </a:r>
          </a:p>
        </p:txBody>
      </p:sp>
      <p:sp>
        <p:nvSpPr>
          <p:cNvPr id="2" name="Google Shape;1002;p33">
            <a:extLst>
              <a:ext uri="{FF2B5EF4-FFF2-40B4-BE49-F238E27FC236}">
                <a16:creationId xmlns:a16="http://schemas.microsoft.com/office/drawing/2014/main" id="{1C369D50-B07B-8D8C-0B30-87B6F56FD3F6}"/>
              </a:ext>
            </a:extLst>
          </p:cNvPr>
          <p:cNvSpPr txBox="1"/>
          <p:nvPr/>
        </p:nvSpPr>
        <p:spPr>
          <a:xfrm>
            <a:off x="3074782" y="2054425"/>
            <a:ext cx="3224934" cy="2874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100" b="1" dirty="0"/>
              <a:t>2. </a:t>
            </a:r>
            <a:r>
              <a:rPr lang="en-US" sz="1100" b="1" dirty="0" err="1"/>
              <a:t>Carheight</a:t>
            </a:r>
            <a:endParaRPr lang="en-US" sz="1100" b="1" dirty="0"/>
          </a:p>
          <a:p>
            <a:r>
              <a:rPr lang="en-US" sz="1100" b="1" dirty="0"/>
              <a:t>Distribution:</a:t>
            </a:r>
            <a:r>
              <a:rPr lang="en-US" sz="1100" dirty="0"/>
              <a:t> Approximately normal, slightly left-skewed.</a:t>
            </a:r>
          </a:p>
          <a:p>
            <a:r>
              <a:rPr lang="en-US" sz="1100" b="1" dirty="0"/>
              <a:t>Insight:</a:t>
            </a:r>
            <a:r>
              <a:rPr lang="en-US" sz="1100" dirty="0"/>
              <a:t> Most vehicles have heights between </a:t>
            </a:r>
            <a:r>
              <a:rPr lang="en-US" sz="1100" b="1" dirty="0"/>
              <a:t>52–56 inches</a:t>
            </a:r>
            <a:r>
              <a:rPr lang="en-US" sz="1100" dirty="0"/>
              <a:t>, with very few shorter or taller cars.</a:t>
            </a:r>
          </a:p>
          <a:p>
            <a:r>
              <a:rPr lang="en-US" sz="1100" b="1" dirty="0"/>
              <a:t>3. </a:t>
            </a:r>
            <a:r>
              <a:rPr lang="en-US" sz="1100" b="1" dirty="0" err="1"/>
              <a:t>Curbweight</a:t>
            </a:r>
            <a:endParaRPr lang="en-US" sz="1100" b="1" dirty="0"/>
          </a:p>
          <a:p>
            <a:r>
              <a:rPr lang="en-US" sz="1100" b="1" dirty="0"/>
              <a:t>Distribution:</a:t>
            </a:r>
            <a:r>
              <a:rPr lang="en-US" sz="1100" dirty="0"/>
              <a:t> Right-skewed.</a:t>
            </a:r>
          </a:p>
          <a:p>
            <a:r>
              <a:rPr lang="en-US" sz="1100" b="1" dirty="0"/>
              <a:t>Insight:</a:t>
            </a:r>
            <a:r>
              <a:rPr lang="en-US" sz="1100" dirty="0"/>
              <a:t> Majority of vehicles weigh between 2,000–3,000 </a:t>
            </a:r>
            <a:r>
              <a:rPr lang="en-US" sz="1100" dirty="0" err="1"/>
              <a:t>lbs</a:t>
            </a:r>
            <a:r>
              <a:rPr lang="en-US" sz="1100" dirty="0"/>
              <a:t>, with heavier luxury cars reaching above 3,500 lbs.</a:t>
            </a:r>
          </a:p>
          <a:p>
            <a:r>
              <a:rPr lang="en-US" sz="1100" b="1" dirty="0"/>
              <a:t>4. </a:t>
            </a:r>
            <a:r>
              <a:rPr lang="en-US" sz="1100" b="1" dirty="0" err="1"/>
              <a:t>Enginesize</a:t>
            </a:r>
            <a:endParaRPr lang="en-US" sz="1100" b="1" dirty="0"/>
          </a:p>
          <a:p>
            <a:r>
              <a:rPr lang="en-US" sz="1100" b="1" dirty="0"/>
              <a:t>Distribution:</a:t>
            </a:r>
            <a:r>
              <a:rPr lang="en-US" sz="1100" dirty="0"/>
              <a:t> Strongly right-skewed.</a:t>
            </a:r>
          </a:p>
          <a:p>
            <a:r>
              <a:rPr lang="en-US" sz="1100" b="1" dirty="0"/>
              <a:t>Insight:</a:t>
            </a:r>
            <a:r>
              <a:rPr lang="en-US" sz="1100" dirty="0"/>
              <a:t> Most cars have small to mid-size engines (under 150), while a few high-performance cars have engines over 250.</a:t>
            </a:r>
          </a:p>
          <a:p>
            <a:endParaRPr lang="en-US" sz="1100" dirty="0"/>
          </a:p>
          <a:p>
            <a:endParaRPr lang="en-US" sz="11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85E9EA7-6A1A-DAD6-AFB5-062801F6FA3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248"/>
          <a:stretch>
            <a:fillRect/>
          </a:stretch>
        </p:blipFill>
        <p:spPr>
          <a:xfrm>
            <a:off x="3218428" y="74935"/>
            <a:ext cx="2501834" cy="1822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250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>
          <a:extLst>
            <a:ext uri="{FF2B5EF4-FFF2-40B4-BE49-F238E27FC236}">
              <a16:creationId xmlns:a16="http://schemas.microsoft.com/office/drawing/2014/main" id="{CEF4B178-B8A7-FA00-5F5F-FCBD1D983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3">
            <a:extLst>
              <a:ext uri="{FF2B5EF4-FFF2-40B4-BE49-F238E27FC236}">
                <a16:creationId xmlns:a16="http://schemas.microsoft.com/office/drawing/2014/main" id="{30EAA03A-AC0B-455A-C93C-C5AF5C6262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945" y="68482"/>
            <a:ext cx="2610742" cy="3543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600" dirty="0">
                <a:solidFill>
                  <a:schemeClr val="dk1"/>
                </a:solidFill>
              </a:rPr>
              <a:t>EXPLORE DATA ANALYSIS</a:t>
            </a:r>
            <a:endParaRPr sz="1600" dirty="0"/>
          </a:p>
        </p:txBody>
      </p:sp>
      <p:sp>
        <p:nvSpPr>
          <p:cNvPr id="4" name="Google Shape;1002;p33">
            <a:extLst>
              <a:ext uri="{FF2B5EF4-FFF2-40B4-BE49-F238E27FC236}">
                <a16:creationId xmlns:a16="http://schemas.microsoft.com/office/drawing/2014/main" id="{509E4858-41B8-00C6-8720-BEC6DC33821E}"/>
              </a:ext>
            </a:extLst>
          </p:cNvPr>
          <p:cNvSpPr txBox="1"/>
          <p:nvPr/>
        </p:nvSpPr>
        <p:spPr>
          <a:xfrm>
            <a:off x="192203" y="3194505"/>
            <a:ext cx="2423364" cy="1736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100" b="1" dirty="0"/>
              <a:t>1. </a:t>
            </a:r>
            <a:r>
              <a:rPr lang="en-US" sz="1100" b="1" dirty="0" err="1"/>
              <a:t>Boreratio</a:t>
            </a:r>
            <a:endParaRPr lang="en-US" sz="1100" b="1" dirty="0"/>
          </a:p>
          <a:p>
            <a:r>
              <a:rPr lang="en-US" sz="1100" b="1" dirty="0"/>
              <a:t>Distribution:</a:t>
            </a:r>
            <a:r>
              <a:rPr lang="en-US" sz="1100" dirty="0"/>
              <a:t> Approximately normal.</a:t>
            </a:r>
          </a:p>
          <a:p>
            <a:r>
              <a:rPr lang="en-US" sz="1100" b="1" dirty="0"/>
              <a:t>Insight:</a:t>
            </a:r>
            <a:r>
              <a:rPr lang="en-US" sz="1100" dirty="0"/>
              <a:t> Most values range between </a:t>
            </a:r>
            <a:r>
              <a:rPr lang="en-US" sz="1100" b="1" dirty="0"/>
              <a:t>3.0 and 3.6</a:t>
            </a:r>
            <a:r>
              <a:rPr lang="en-US" sz="1100" dirty="0"/>
              <a:t>, suggesting consistent engine bore proportions across models.</a:t>
            </a:r>
          </a:p>
          <a:p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32B0C4-122A-CF49-08D6-60601831C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91" y="1135433"/>
            <a:ext cx="2582788" cy="182695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EC66C54-7EF5-196E-E95B-627D7A5AA0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5257" y="3101469"/>
            <a:ext cx="2493486" cy="17895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5D78CDD-D774-6ADF-891D-5FA2292C03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7542" y="369493"/>
            <a:ext cx="2497123" cy="18269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2777924-08EF-F43C-A08C-8F6C569656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14710" y="3053723"/>
            <a:ext cx="2582788" cy="1876826"/>
          </a:xfrm>
          <a:prstGeom prst="rect">
            <a:avLst/>
          </a:prstGeom>
        </p:spPr>
      </p:pic>
      <p:sp>
        <p:nvSpPr>
          <p:cNvPr id="14" name="Google Shape;737;p33">
            <a:extLst>
              <a:ext uri="{FF2B5EF4-FFF2-40B4-BE49-F238E27FC236}">
                <a16:creationId xmlns:a16="http://schemas.microsoft.com/office/drawing/2014/main" id="{6BE88376-187D-AE1C-E8EB-C30B3D25AE33}"/>
              </a:ext>
            </a:extLst>
          </p:cNvPr>
          <p:cNvSpPr txBox="1">
            <a:spLocks/>
          </p:cNvSpPr>
          <p:nvPr/>
        </p:nvSpPr>
        <p:spPr>
          <a:xfrm>
            <a:off x="272251" y="369493"/>
            <a:ext cx="2033392" cy="565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algn="l"/>
            <a:r>
              <a:rPr lang="en-US" sz="1400" b="0" dirty="0"/>
              <a:t>Univariate Analysis</a:t>
            </a:r>
          </a:p>
          <a:p>
            <a:pPr algn="l"/>
            <a:r>
              <a:rPr lang="en-US" sz="1400" b="0" dirty="0"/>
              <a:t>Numerical Features:</a:t>
            </a:r>
          </a:p>
        </p:txBody>
      </p:sp>
      <p:sp>
        <p:nvSpPr>
          <p:cNvPr id="2" name="Google Shape;1002;p33">
            <a:extLst>
              <a:ext uri="{FF2B5EF4-FFF2-40B4-BE49-F238E27FC236}">
                <a16:creationId xmlns:a16="http://schemas.microsoft.com/office/drawing/2014/main" id="{6D4C17C9-6265-C64A-C2A7-1921D629F53F}"/>
              </a:ext>
            </a:extLst>
          </p:cNvPr>
          <p:cNvSpPr txBox="1"/>
          <p:nvPr/>
        </p:nvSpPr>
        <p:spPr>
          <a:xfrm>
            <a:off x="2935402" y="422817"/>
            <a:ext cx="3368415" cy="2630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100" b="1" dirty="0"/>
              <a:t>2. </a:t>
            </a:r>
            <a:r>
              <a:rPr lang="en-US" sz="1100" b="1" dirty="0" err="1"/>
              <a:t>Compressionratio</a:t>
            </a:r>
            <a:endParaRPr lang="en-US" sz="1100" b="1" dirty="0"/>
          </a:p>
          <a:p>
            <a:r>
              <a:rPr lang="en-US" sz="1100" b="1" dirty="0"/>
              <a:t>Distribution:</a:t>
            </a:r>
            <a:r>
              <a:rPr lang="en-US" sz="1100" dirty="0"/>
              <a:t> Highly right-skewed.</a:t>
            </a:r>
          </a:p>
          <a:p>
            <a:r>
              <a:rPr lang="en-US" sz="1100" b="1" dirty="0"/>
              <a:t>Insight:</a:t>
            </a:r>
            <a:r>
              <a:rPr lang="en-US" sz="1100" dirty="0"/>
              <a:t> Most cars have a compression ratio around </a:t>
            </a:r>
            <a:r>
              <a:rPr lang="en-US" sz="1100" b="1" dirty="0"/>
              <a:t>8–10</a:t>
            </a:r>
            <a:r>
              <a:rPr lang="en-US" sz="1100" dirty="0"/>
              <a:t>, but a few models have very high ratios (above 20).</a:t>
            </a:r>
          </a:p>
          <a:p>
            <a:r>
              <a:rPr lang="en-US" sz="1100" b="1" dirty="0"/>
              <a:t>3. Stroke</a:t>
            </a:r>
          </a:p>
          <a:p>
            <a:r>
              <a:rPr lang="en-US" sz="1100" b="1" dirty="0"/>
              <a:t>Distribution:</a:t>
            </a:r>
            <a:r>
              <a:rPr lang="en-US" sz="1100" dirty="0"/>
              <a:t> Roughly normal with mild variation.</a:t>
            </a:r>
          </a:p>
          <a:p>
            <a:r>
              <a:rPr lang="en-US" sz="1100" b="1" dirty="0"/>
              <a:t>Insight:</a:t>
            </a:r>
            <a:r>
              <a:rPr lang="en-US" sz="1100" dirty="0"/>
              <a:t> Majority of vehicles have stroke values between </a:t>
            </a:r>
            <a:r>
              <a:rPr lang="en-US" sz="1100" b="1" dirty="0"/>
              <a:t>3.0 and 3.5</a:t>
            </a:r>
            <a:r>
              <a:rPr lang="en-US" sz="1100" dirty="0"/>
              <a:t>, indicating similar piston stroke design.</a:t>
            </a:r>
          </a:p>
          <a:p>
            <a:r>
              <a:rPr lang="en-US" sz="1100" b="1" dirty="0"/>
              <a:t>4. Horsepower</a:t>
            </a:r>
          </a:p>
          <a:p>
            <a:r>
              <a:rPr lang="en-US" sz="1100" b="1" dirty="0"/>
              <a:t>Distribution:</a:t>
            </a:r>
            <a:r>
              <a:rPr lang="en-US" sz="1100" dirty="0"/>
              <a:t> Strongly right-skewed.</a:t>
            </a:r>
          </a:p>
          <a:p>
            <a:r>
              <a:rPr lang="en-US" sz="1100" b="1" dirty="0"/>
              <a:t>Insight:</a:t>
            </a:r>
            <a:r>
              <a:rPr lang="en-US" sz="1100" dirty="0"/>
              <a:t> Most cars produce </a:t>
            </a:r>
            <a:r>
              <a:rPr lang="en-US" sz="1100" b="1" dirty="0"/>
              <a:t>under 120 HP</a:t>
            </a:r>
            <a:r>
              <a:rPr lang="en-US" sz="1100" dirty="0"/>
              <a:t>, while high-performance vehicles reach over </a:t>
            </a:r>
            <a:r>
              <a:rPr lang="en-US" sz="1100" b="1" dirty="0"/>
              <a:t>200 HP</a:t>
            </a:r>
            <a:r>
              <a:rPr lang="en-US" sz="1100" dirty="0"/>
              <a:t>.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098606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>
          <a:extLst>
            <a:ext uri="{FF2B5EF4-FFF2-40B4-BE49-F238E27FC236}">
              <a16:creationId xmlns:a16="http://schemas.microsoft.com/office/drawing/2014/main" id="{3B3D3796-7D22-F829-86D7-AB739C586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3">
            <a:extLst>
              <a:ext uri="{FF2B5EF4-FFF2-40B4-BE49-F238E27FC236}">
                <a16:creationId xmlns:a16="http://schemas.microsoft.com/office/drawing/2014/main" id="{C9174917-33BB-7BC3-1F5E-421188BF8B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945" y="68482"/>
            <a:ext cx="2610742" cy="3543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600" dirty="0">
                <a:solidFill>
                  <a:schemeClr val="dk1"/>
                </a:solidFill>
              </a:rPr>
              <a:t>EXPLORE DATA ANALYSIS</a:t>
            </a:r>
            <a:endParaRPr sz="1600" dirty="0"/>
          </a:p>
        </p:txBody>
      </p:sp>
      <p:sp>
        <p:nvSpPr>
          <p:cNvPr id="4" name="Google Shape;1002;p33">
            <a:extLst>
              <a:ext uri="{FF2B5EF4-FFF2-40B4-BE49-F238E27FC236}">
                <a16:creationId xmlns:a16="http://schemas.microsoft.com/office/drawing/2014/main" id="{4A9B8D76-2B2B-6203-CCDA-1C84180A5B57}"/>
              </a:ext>
            </a:extLst>
          </p:cNvPr>
          <p:cNvSpPr txBox="1"/>
          <p:nvPr/>
        </p:nvSpPr>
        <p:spPr>
          <a:xfrm>
            <a:off x="118945" y="3279301"/>
            <a:ext cx="2582478" cy="1742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100" b="1" dirty="0"/>
              <a:t>1. </a:t>
            </a:r>
            <a:r>
              <a:rPr lang="en-US" sz="1100" b="1" dirty="0" err="1"/>
              <a:t>Peakrpm</a:t>
            </a:r>
            <a:endParaRPr lang="en-US" sz="1100" b="1" dirty="0"/>
          </a:p>
          <a:p>
            <a:r>
              <a:rPr lang="en-US" sz="1100" b="1" dirty="0"/>
              <a:t>Distribution:</a:t>
            </a:r>
            <a:r>
              <a:rPr lang="en-US" sz="1100" dirty="0"/>
              <a:t> Approximately normal with slight right skew.</a:t>
            </a:r>
          </a:p>
          <a:p>
            <a:r>
              <a:rPr lang="en-US" sz="1100" b="1" dirty="0"/>
              <a:t>Insight:</a:t>
            </a:r>
            <a:r>
              <a:rPr lang="en-US" sz="1100" dirty="0"/>
              <a:t> Most vehicles reach peak revolutions between </a:t>
            </a:r>
            <a:r>
              <a:rPr lang="en-US" sz="1100" b="1" dirty="0"/>
              <a:t>4,800 and 5,500 rpm</a:t>
            </a:r>
            <a:r>
              <a:rPr lang="en-US" sz="1100" dirty="0"/>
              <a:t>, with only a few exceeding 6,000.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FEBB98-9CC0-B8AC-0244-65066F98A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80" y="1185482"/>
            <a:ext cx="2610743" cy="196578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0EB401-D0F7-294D-C428-63B6E2358F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2373" y="1235814"/>
            <a:ext cx="2582479" cy="18651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AC786CC-D9E0-1796-160A-2E136C394F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5802" y="1235813"/>
            <a:ext cx="2576064" cy="1865123"/>
          </a:xfrm>
          <a:prstGeom prst="rect">
            <a:avLst/>
          </a:prstGeom>
        </p:spPr>
      </p:pic>
      <p:sp>
        <p:nvSpPr>
          <p:cNvPr id="12" name="Google Shape;737;p33">
            <a:extLst>
              <a:ext uri="{FF2B5EF4-FFF2-40B4-BE49-F238E27FC236}">
                <a16:creationId xmlns:a16="http://schemas.microsoft.com/office/drawing/2014/main" id="{F449FC45-3E1E-90DA-C8DA-CF0B3629ECDD}"/>
              </a:ext>
            </a:extLst>
          </p:cNvPr>
          <p:cNvSpPr txBox="1">
            <a:spLocks/>
          </p:cNvSpPr>
          <p:nvPr/>
        </p:nvSpPr>
        <p:spPr>
          <a:xfrm>
            <a:off x="279685" y="586066"/>
            <a:ext cx="2033392" cy="565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algn="l"/>
            <a:r>
              <a:rPr lang="en-US" sz="1400" b="0" dirty="0"/>
              <a:t>Univariate Analysis</a:t>
            </a:r>
          </a:p>
          <a:p>
            <a:pPr algn="l"/>
            <a:r>
              <a:rPr lang="en-US" sz="1400" b="0" dirty="0"/>
              <a:t>Numerical Features:</a:t>
            </a:r>
          </a:p>
        </p:txBody>
      </p:sp>
      <p:sp>
        <p:nvSpPr>
          <p:cNvPr id="2" name="Google Shape;1002;p33">
            <a:extLst>
              <a:ext uri="{FF2B5EF4-FFF2-40B4-BE49-F238E27FC236}">
                <a16:creationId xmlns:a16="http://schemas.microsoft.com/office/drawing/2014/main" id="{352FFACE-F013-F4BD-4DCE-27CAFE491BE9}"/>
              </a:ext>
            </a:extLst>
          </p:cNvPr>
          <p:cNvSpPr txBox="1"/>
          <p:nvPr/>
        </p:nvSpPr>
        <p:spPr>
          <a:xfrm>
            <a:off x="3382889" y="3279301"/>
            <a:ext cx="2582478" cy="1280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100" b="1" dirty="0"/>
              <a:t>2. </a:t>
            </a:r>
            <a:r>
              <a:rPr lang="en-US" sz="1100" b="1" dirty="0" err="1"/>
              <a:t>Citympg</a:t>
            </a:r>
            <a:endParaRPr lang="en-US" sz="1100" b="1" dirty="0"/>
          </a:p>
          <a:p>
            <a:r>
              <a:rPr lang="en-US" sz="1100" b="1" dirty="0"/>
              <a:t>Distribution:</a:t>
            </a:r>
            <a:r>
              <a:rPr lang="en-US" sz="1100" dirty="0"/>
              <a:t> Right-skewed.</a:t>
            </a:r>
          </a:p>
          <a:p>
            <a:r>
              <a:rPr lang="en-US" sz="1100" b="1" dirty="0"/>
              <a:t>Insight:</a:t>
            </a:r>
            <a:r>
              <a:rPr lang="en-US" sz="1100" dirty="0"/>
              <a:t> The majority of cars have city mileage between </a:t>
            </a:r>
            <a:r>
              <a:rPr lang="en-US" sz="1100" b="1" dirty="0"/>
              <a:t>20–30 mpg</a:t>
            </a:r>
            <a:r>
              <a:rPr lang="en-US" sz="1100" dirty="0"/>
              <a:t>, while a few highly efficient models reach up to </a:t>
            </a:r>
            <a:r>
              <a:rPr lang="en-US" sz="1100" b="1" dirty="0"/>
              <a:t>45–50 mpg</a:t>
            </a:r>
            <a:r>
              <a:rPr lang="en-US" sz="1100" dirty="0"/>
              <a:t>.</a:t>
            </a:r>
          </a:p>
        </p:txBody>
      </p:sp>
      <p:sp>
        <p:nvSpPr>
          <p:cNvPr id="5" name="Google Shape;1002;p33">
            <a:extLst>
              <a:ext uri="{FF2B5EF4-FFF2-40B4-BE49-F238E27FC236}">
                <a16:creationId xmlns:a16="http://schemas.microsoft.com/office/drawing/2014/main" id="{3BEACBAF-4611-849F-5D5B-0135C245FE28}"/>
              </a:ext>
            </a:extLst>
          </p:cNvPr>
          <p:cNvSpPr txBox="1"/>
          <p:nvPr/>
        </p:nvSpPr>
        <p:spPr>
          <a:xfrm>
            <a:off x="6442577" y="3279301"/>
            <a:ext cx="2582478" cy="1742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100" b="1" dirty="0"/>
              <a:t>3. </a:t>
            </a:r>
            <a:r>
              <a:rPr lang="en-US" sz="1100" b="1" dirty="0" err="1"/>
              <a:t>Highwaympg</a:t>
            </a:r>
            <a:endParaRPr lang="en-US" sz="1100" b="1" dirty="0"/>
          </a:p>
          <a:p>
            <a:r>
              <a:rPr lang="en-US" sz="1100" b="1" dirty="0"/>
              <a:t>Distribution:</a:t>
            </a:r>
            <a:r>
              <a:rPr lang="en-US" sz="1100" dirty="0"/>
              <a:t> Nearly normal.</a:t>
            </a:r>
          </a:p>
          <a:p>
            <a:r>
              <a:rPr lang="en-US" sz="1100" b="1" dirty="0"/>
              <a:t>Insight:</a:t>
            </a:r>
            <a:r>
              <a:rPr lang="en-US" sz="1100" dirty="0"/>
              <a:t> Most highway mileage values fall between </a:t>
            </a:r>
            <a:r>
              <a:rPr lang="en-US" sz="1100" b="1" dirty="0"/>
              <a:t>25–40 mpg</a:t>
            </a:r>
            <a:r>
              <a:rPr lang="en-US" sz="1100" dirty="0"/>
              <a:t>, showing a balanced distribution across vehicle types.</a:t>
            </a:r>
          </a:p>
        </p:txBody>
      </p:sp>
    </p:spTree>
    <p:extLst>
      <p:ext uri="{BB962C8B-B14F-4D97-AF65-F5344CB8AC3E}">
        <p14:creationId xmlns:p14="http://schemas.microsoft.com/office/powerpoint/2010/main" val="16389051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>
          <a:extLst>
            <a:ext uri="{FF2B5EF4-FFF2-40B4-BE49-F238E27FC236}">
              <a16:creationId xmlns:a16="http://schemas.microsoft.com/office/drawing/2014/main" id="{56950290-06B1-E035-C0B2-3C472C532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3">
            <a:extLst>
              <a:ext uri="{FF2B5EF4-FFF2-40B4-BE49-F238E27FC236}">
                <a16:creationId xmlns:a16="http://schemas.microsoft.com/office/drawing/2014/main" id="{FD55AC7A-F2EA-5889-62B7-522E80A6909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945" y="68482"/>
            <a:ext cx="2610742" cy="3543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600" dirty="0">
                <a:solidFill>
                  <a:schemeClr val="dk1"/>
                </a:solidFill>
              </a:rPr>
              <a:t>EXPLORE DATA ANALYSIS</a:t>
            </a:r>
            <a:endParaRPr sz="1600" dirty="0"/>
          </a:p>
        </p:txBody>
      </p:sp>
      <p:sp>
        <p:nvSpPr>
          <p:cNvPr id="4" name="Google Shape;1002;p33">
            <a:extLst>
              <a:ext uri="{FF2B5EF4-FFF2-40B4-BE49-F238E27FC236}">
                <a16:creationId xmlns:a16="http://schemas.microsoft.com/office/drawing/2014/main" id="{8C09AE2C-549A-DA81-65F7-33941FDC0783}"/>
              </a:ext>
            </a:extLst>
          </p:cNvPr>
          <p:cNvSpPr txBox="1"/>
          <p:nvPr/>
        </p:nvSpPr>
        <p:spPr>
          <a:xfrm>
            <a:off x="118944" y="2745026"/>
            <a:ext cx="2849833" cy="14182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100" b="1" dirty="0"/>
              <a:t>1. </a:t>
            </a:r>
            <a:r>
              <a:rPr lang="en-US" sz="1100" b="1" dirty="0" err="1"/>
              <a:t>CarName</a:t>
            </a:r>
            <a:endParaRPr lang="en-US" sz="1100" b="1" dirty="0"/>
          </a:p>
          <a:p>
            <a:r>
              <a:rPr lang="en-US" sz="1100" b="1" dirty="0"/>
              <a:t>Insight:</a:t>
            </a:r>
            <a:br>
              <a:rPr lang="en-US" sz="1100" dirty="0"/>
            </a:br>
            <a:r>
              <a:rPr lang="en-US" sz="1100" dirty="0"/>
              <a:t>Toyota is the most frequent brand in the dataset, followed by Nissan, Mazda, and Mitsubishi.</a:t>
            </a:r>
            <a:br>
              <a:rPr lang="en-US" sz="1100" dirty="0"/>
            </a:br>
            <a:r>
              <a:rPr lang="en-US" sz="1100" dirty="0"/>
              <a:t>Brands such as Mercury, Renault, and Jaguar appear least frequently.</a:t>
            </a:r>
          </a:p>
          <a:p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E76BD1-3B3A-00FA-7283-9509BA3A30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58400"/>
            <a:ext cx="2968778" cy="16866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37599C-2FF9-CB84-A15B-348C79FB90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3609" y="0"/>
            <a:ext cx="3025858" cy="16004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107C33-C87D-003D-2A5A-4A81E608FB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0689" y="1666261"/>
            <a:ext cx="2968778" cy="1613040"/>
          </a:xfrm>
          <a:prstGeom prst="rect">
            <a:avLst/>
          </a:prstGeom>
        </p:spPr>
      </p:pic>
      <p:sp>
        <p:nvSpPr>
          <p:cNvPr id="12" name="Google Shape;737;p33">
            <a:extLst>
              <a:ext uri="{FF2B5EF4-FFF2-40B4-BE49-F238E27FC236}">
                <a16:creationId xmlns:a16="http://schemas.microsoft.com/office/drawing/2014/main" id="{ADB35EFC-B073-8021-F47E-0F734C6D7F0C}"/>
              </a:ext>
            </a:extLst>
          </p:cNvPr>
          <p:cNvSpPr txBox="1">
            <a:spLocks/>
          </p:cNvSpPr>
          <p:nvPr/>
        </p:nvSpPr>
        <p:spPr>
          <a:xfrm>
            <a:off x="279685" y="391796"/>
            <a:ext cx="2033392" cy="565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algn="l"/>
            <a:r>
              <a:rPr lang="en-US" sz="1400" b="0" dirty="0"/>
              <a:t>Univariate Analysis</a:t>
            </a:r>
          </a:p>
          <a:p>
            <a:pPr algn="l"/>
            <a:r>
              <a:rPr lang="en-US" sz="1400" b="0" dirty="0"/>
              <a:t>Categorical Features: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F7D9D2C-3FAB-0D6C-6A13-3E487B17DD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0688" y="3345113"/>
            <a:ext cx="3003185" cy="1673321"/>
          </a:xfrm>
          <a:prstGeom prst="rect">
            <a:avLst/>
          </a:prstGeom>
        </p:spPr>
      </p:pic>
      <p:sp>
        <p:nvSpPr>
          <p:cNvPr id="3" name="Google Shape;1002;p33">
            <a:extLst>
              <a:ext uri="{FF2B5EF4-FFF2-40B4-BE49-F238E27FC236}">
                <a16:creationId xmlns:a16="http://schemas.microsoft.com/office/drawing/2014/main" id="{E9CCBF08-DDDD-86AA-79EF-AFD94B25FF1E}"/>
              </a:ext>
            </a:extLst>
          </p:cNvPr>
          <p:cNvSpPr txBox="1"/>
          <p:nvPr/>
        </p:nvSpPr>
        <p:spPr>
          <a:xfrm>
            <a:off x="3240855" y="737370"/>
            <a:ext cx="2849833" cy="2607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100" b="1" dirty="0"/>
              <a:t>2. </a:t>
            </a:r>
            <a:r>
              <a:rPr lang="en-US" sz="1100" b="1" dirty="0" err="1"/>
              <a:t>Fueltype</a:t>
            </a:r>
            <a:endParaRPr lang="en-US" sz="1100" b="1" dirty="0"/>
          </a:p>
          <a:p>
            <a:r>
              <a:rPr lang="en-US" sz="1100" b="1" dirty="0"/>
              <a:t>Insight:</a:t>
            </a:r>
            <a:br>
              <a:rPr lang="en-US" sz="1100" dirty="0"/>
            </a:br>
            <a:r>
              <a:rPr lang="en-US" sz="1100" dirty="0"/>
              <a:t>The majority of cars use gasoline (gas), while only a small portion use diesel.</a:t>
            </a:r>
          </a:p>
          <a:p>
            <a:r>
              <a:rPr lang="en-US" sz="1100" b="1" dirty="0"/>
              <a:t>3. Aspiration</a:t>
            </a:r>
          </a:p>
          <a:p>
            <a:r>
              <a:rPr lang="en-US" sz="1100" b="1" dirty="0"/>
              <a:t>Insight:</a:t>
            </a:r>
            <a:br>
              <a:rPr lang="en-US" sz="1100" dirty="0"/>
            </a:br>
            <a:r>
              <a:rPr lang="en-US" sz="1100" dirty="0"/>
              <a:t>Most vehicles have standard (std) aspiration systems, while a smaller proportion are turbocharged (turbo).</a:t>
            </a:r>
          </a:p>
          <a:p>
            <a:r>
              <a:rPr lang="en-US" sz="1100" b="1" dirty="0"/>
              <a:t>4. </a:t>
            </a:r>
            <a:r>
              <a:rPr lang="en-US" sz="1100" b="1" dirty="0" err="1"/>
              <a:t>Doornumber</a:t>
            </a:r>
            <a:endParaRPr lang="en-US" sz="1100" b="1" dirty="0"/>
          </a:p>
          <a:p>
            <a:r>
              <a:rPr lang="en-US" sz="1100" b="1" dirty="0"/>
              <a:t>Insight:</a:t>
            </a:r>
            <a:br>
              <a:rPr lang="en-US" sz="1100" dirty="0"/>
            </a:br>
            <a:r>
              <a:rPr lang="en-US" sz="1100" dirty="0"/>
              <a:t>Cars with four doors slightly outnumber those with two doors.</a:t>
            </a:r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099213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>
          <a:extLst>
            <a:ext uri="{FF2B5EF4-FFF2-40B4-BE49-F238E27FC236}">
              <a16:creationId xmlns:a16="http://schemas.microsoft.com/office/drawing/2014/main" id="{8E1AC4CA-3AF9-2464-DA30-3B37349985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3">
            <a:extLst>
              <a:ext uri="{FF2B5EF4-FFF2-40B4-BE49-F238E27FC236}">
                <a16:creationId xmlns:a16="http://schemas.microsoft.com/office/drawing/2014/main" id="{A4BA87C6-E8D0-ACFC-FD46-56B9140585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945" y="68482"/>
            <a:ext cx="2610742" cy="3543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600" dirty="0">
                <a:solidFill>
                  <a:schemeClr val="dk1"/>
                </a:solidFill>
              </a:rPr>
              <a:t>EXPLORE DATA ANALYSIS</a:t>
            </a:r>
            <a:endParaRPr sz="1600" dirty="0"/>
          </a:p>
        </p:txBody>
      </p:sp>
      <p:sp>
        <p:nvSpPr>
          <p:cNvPr id="4" name="Google Shape;1002;p33">
            <a:extLst>
              <a:ext uri="{FF2B5EF4-FFF2-40B4-BE49-F238E27FC236}">
                <a16:creationId xmlns:a16="http://schemas.microsoft.com/office/drawing/2014/main" id="{13ABEE70-28AB-61B1-8646-1B594709FE95}"/>
              </a:ext>
            </a:extLst>
          </p:cNvPr>
          <p:cNvSpPr txBox="1"/>
          <p:nvPr/>
        </p:nvSpPr>
        <p:spPr>
          <a:xfrm>
            <a:off x="3969326" y="2085733"/>
            <a:ext cx="4537365" cy="2029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050" b="1" dirty="0"/>
              <a:t>1. </a:t>
            </a:r>
            <a:r>
              <a:rPr lang="en-US" sz="1050" b="1" dirty="0" err="1"/>
              <a:t>Carbody</a:t>
            </a:r>
            <a:endParaRPr lang="en-US" sz="1050" b="1" dirty="0"/>
          </a:p>
          <a:p>
            <a:r>
              <a:rPr lang="en-US" sz="1050" b="1" dirty="0"/>
              <a:t>Insight</a:t>
            </a:r>
            <a:r>
              <a:rPr lang="en-US" sz="1050" dirty="0"/>
              <a:t>: The sedan body type is the most common in the dataset, followed by hatchback and wagon.</a:t>
            </a:r>
            <a:br>
              <a:rPr lang="en-US" sz="1050" dirty="0"/>
            </a:br>
            <a:r>
              <a:rPr lang="en-US" sz="1050" dirty="0"/>
              <a:t>Hardtop and convertible models are relatively rare.</a:t>
            </a:r>
          </a:p>
          <a:p>
            <a:r>
              <a:rPr lang="en-US" sz="1050" b="1" dirty="0"/>
              <a:t>2. </a:t>
            </a:r>
            <a:r>
              <a:rPr lang="en-US" sz="1050" b="1" dirty="0" err="1"/>
              <a:t>Enginelocation</a:t>
            </a:r>
            <a:endParaRPr lang="en-US" sz="1050" b="1" dirty="0"/>
          </a:p>
          <a:p>
            <a:r>
              <a:rPr lang="en-US" sz="1050" b="1" dirty="0"/>
              <a:t>Insight</a:t>
            </a:r>
            <a:r>
              <a:rPr lang="en-US" sz="1050" dirty="0"/>
              <a:t>: Nearly all vehicles have their engine located in the front, with only a very small number having rear engines.</a:t>
            </a:r>
          </a:p>
          <a:p>
            <a:r>
              <a:rPr lang="en-US" sz="1050" b="1" dirty="0"/>
              <a:t>3. </a:t>
            </a:r>
            <a:r>
              <a:rPr lang="en-US" sz="1050" b="1" dirty="0" err="1"/>
              <a:t>Drivewheel</a:t>
            </a:r>
            <a:endParaRPr lang="en-US" sz="1050" b="1" dirty="0"/>
          </a:p>
          <a:p>
            <a:r>
              <a:rPr lang="en-US" sz="1050" b="1" dirty="0"/>
              <a:t>Insight</a:t>
            </a:r>
            <a:r>
              <a:rPr lang="en-US" sz="1050" dirty="0"/>
              <a:t>: Front-wheel drive (</a:t>
            </a:r>
            <a:r>
              <a:rPr lang="en-US" sz="1050" dirty="0" err="1"/>
              <a:t>fwd</a:t>
            </a:r>
            <a:r>
              <a:rPr lang="en-US" sz="1050" dirty="0"/>
              <a:t>) cars dominate, followed by rear-wheel drive (</a:t>
            </a:r>
            <a:r>
              <a:rPr lang="en-US" sz="1050" dirty="0" err="1"/>
              <a:t>rwd</a:t>
            </a:r>
            <a:r>
              <a:rPr lang="en-US" sz="1050" dirty="0"/>
              <a:t>).</a:t>
            </a:r>
            <a:br>
              <a:rPr lang="en-US" sz="1050" dirty="0"/>
            </a:br>
            <a:r>
              <a:rPr lang="en-US" sz="1050" dirty="0"/>
              <a:t>Four-wheel drive (4wd) cars are very few in number.</a:t>
            </a:r>
          </a:p>
          <a:p>
            <a:endParaRPr lang="en-US" sz="1050" dirty="0"/>
          </a:p>
          <a:p>
            <a:endParaRPr lang="en-US" sz="105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AEC3D1C-B627-C538-967F-A7B90B0561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5527" y="0"/>
            <a:ext cx="3880168" cy="17462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1375849-1B3C-F532-525B-2C0DF8B174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78" y="2681650"/>
            <a:ext cx="3500550" cy="1746297"/>
          </a:xfrm>
          <a:prstGeom prst="rect">
            <a:avLst/>
          </a:prstGeom>
        </p:spPr>
      </p:pic>
      <p:sp>
        <p:nvSpPr>
          <p:cNvPr id="12" name="Google Shape;737;p33">
            <a:extLst>
              <a:ext uri="{FF2B5EF4-FFF2-40B4-BE49-F238E27FC236}">
                <a16:creationId xmlns:a16="http://schemas.microsoft.com/office/drawing/2014/main" id="{74365990-063A-31EC-A54F-F7A625306AC6}"/>
              </a:ext>
            </a:extLst>
          </p:cNvPr>
          <p:cNvSpPr txBox="1">
            <a:spLocks/>
          </p:cNvSpPr>
          <p:nvPr/>
        </p:nvSpPr>
        <p:spPr>
          <a:xfrm>
            <a:off x="279685" y="391796"/>
            <a:ext cx="2033392" cy="565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algn="l"/>
            <a:r>
              <a:rPr lang="en-US" sz="1400" b="0" dirty="0"/>
              <a:t>Univariate Analysis</a:t>
            </a:r>
          </a:p>
          <a:p>
            <a:pPr algn="l"/>
            <a:r>
              <a:rPr lang="en-US" sz="1400" b="0" dirty="0"/>
              <a:t>Categorical Features: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8E230F-78B9-D414-C4D4-3546FEDA08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45" y="935353"/>
            <a:ext cx="3395416" cy="1746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107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>
          <a:extLst>
            <a:ext uri="{FF2B5EF4-FFF2-40B4-BE49-F238E27FC236}">
              <a16:creationId xmlns:a16="http://schemas.microsoft.com/office/drawing/2014/main" id="{BF5476D8-E63A-ACDE-9386-AF8F18BE2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3">
            <a:extLst>
              <a:ext uri="{FF2B5EF4-FFF2-40B4-BE49-F238E27FC236}">
                <a16:creationId xmlns:a16="http://schemas.microsoft.com/office/drawing/2014/main" id="{2AADF528-E399-B50B-F6E3-F67A91DED7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945" y="68482"/>
            <a:ext cx="2610742" cy="3543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600" dirty="0">
                <a:solidFill>
                  <a:schemeClr val="dk1"/>
                </a:solidFill>
              </a:rPr>
              <a:t>EXPLORE DATA ANALYSIS</a:t>
            </a:r>
            <a:endParaRPr sz="1600" dirty="0"/>
          </a:p>
        </p:txBody>
      </p:sp>
      <p:sp>
        <p:nvSpPr>
          <p:cNvPr id="4" name="Google Shape;1002;p33">
            <a:extLst>
              <a:ext uri="{FF2B5EF4-FFF2-40B4-BE49-F238E27FC236}">
                <a16:creationId xmlns:a16="http://schemas.microsoft.com/office/drawing/2014/main" id="{8C16D82A-D1FA-3B4D-B532-B12BEC9B6703}"/>
              </a:ext>
            </a:extLst>
          </p:cNvPr>
          <p:cNvSpPr txBox="1"/>
          <p:nvPr/>
        </p:nvSpPr>
        <p:spPr>
          <a:xfrm>
            <a:off x="4045527" y="674445"/>
            <a:ext cx="4979528" cy="2403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100" b="1" dirty="0"/>
              <a:t>1. </a:t>
            </a:r>
            <a:r>
              <a:rPr lang="en-US" sz="1100" b="1" dirty="0" err="1"/>
              <a:t>Enginetype</a:t>
            </a:r>
            <a:endParaRPr lang="en-US" sz="1100" b="1" dirty="0"/>
          </a:p>
          <a:p>
            <a:r>
              <a:rPr lang="en-US" sz="1100" b="1" dirty="0"/>
              <a:t>Insight: </a:t>
            </a:r>
            <a:r>
              <a:rPr lang="en-US" sz="1100" dirty="0"/>
              <a:t>The OHC (Overhead Camshaft) engine type dominates the dataset, followed by OHCF, OHCV, and DOHC types.</a:t>
            </a:r>
            <a:br>
              <a:rPr lang="en-US" sz="1100" dirty="0"/>
            </a:br>
            <a:r>
              <a:rPr lang="en-US" sz="1100" dirty="0"/>
              <a:t>Other types such as rotor, L, and DOHCV are very rare.</a:t>
            </a:r>
          </a:p>
          <a:p>
            <a:r>
              <a:rPr lang="en-US" sz="1100" b="1" dirty="0"/>
              <a:t>2. </a:t>
            </a:r>
            <a:r>
              <a:rPr lang="en-US" sz="1100" b="1" dirty="0" err="1"/>
              <a:t>Cylindernumber</a:t>
            </a:r>
            <a:endParaRPr lang="en-US" sz="1100" b="1" dirty="0"/>
          </a:p>
          <a:p>
            <a:r>
              <a:rPr lang="en-US" sz="1100" b="1" dirty="0"/>
              <a:t>Insight: </a:t>
            </a:r>
            <a:r>
              <a:rPr lang="en-US" sz="1100" dirty="0"/>
              <a:t>Cars with four cylinders are the most common, making up the majority of the dataset.</a:t>
            </a:r>
            <a:br>
              <a:rPr lang="en-US" sz="1100" dirty="0"/>
            </a:br>
            <a:r>
              <a:rPr lang="en-US" sz="1100" dirty="0"/>
              <a:t>Other configurations like six, five, or eight cylinders appear much less frequently.</a:t>
            </a:r>
          </a:p>
          <a:p>
            <a:r>
              <a:rPr lang="en-US" sz="1100" b="1" dirty="0"/>
              <a:t>3. </a:t>
            </a:r>
            <a:r>
              <a:rPr lang="en-US" sz="1100" b="1" dirty="0" err="1"/>
              <a:t>Fuelsystem</a:t>
            </a:r>
            <a:endParaRPr lang="en-US" sz="1100" b="1" dirty="0"/>
          </a:p>
          <a:p>
            <a:r>
              <a:rPr lang="en-US" sz="1100" b="1" dirty="0"/>
              <a:t>Insight: </a:t>
            </a:r>
            <a:r>
              <a:rPr lang="en-US" sz="1100" dirty="0"/>
              <a:t>The MPFI (Multi-Point Fuel Injection) system is the most prevalent, followed by 2BBL and IDI.</a:t>
            </a:r>
            <a:br>
              <a:rPr lang="en-US" sz="1100" dirty="0"/>
            </a:br>
            <a:r>
              <a:rPr lang="en-US" sz="1100" dirty="0"/>
              <a:t>Other systems like SPFI and MFI occur rarely.</a:t>
            </a:r>
          </a:p>
          <a:p>
            <a:endParaRPr lang="en-US" sz="1100" dirty="0"/>
          </a:p>
          <a:p>
            <a:endParaRPr lang="en-US" sz="11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372E0AF-2812-73C2-9773-68EF2389B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45" y="957094"/>
            <a:ext cx="3584796" cy="16982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F437401-4277-224D-FD80-678B039D7FB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938"/>
          <a:stretch>
            <a:fillRect/>
          </a:stretch>
        </p:blipFill>
        <p:spPr>
          <a:xfrm>
            <a:off x="118946" y="3146629"/>
            <a:ext cx="3798695" cy="18309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A82CFB3-37D0-AF39-0C0E-D91C36521F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9942" y="3146628"/>
            <a:ext cx="3798695" cy="1830949"/>
          </a:xfrm>
          <a:prstGeom prst="rect">
            <a:avLst/>
          </a:prstGeom>
        </p:spPr>
      </p:pic>
      <p:sp>
        <p:nvSpPr>
          <p:cNvPr id="14" name="Google Shape;737;p33">
            <a:extLst>
              <a:ext uri="{FF2B5EF4-FFF2-40B4-BE49-F238E27FC236}">
                <a16:creationId xmlns:a16="http://schemas.microsoft.com/office/drawing/2014/main" id="{8A1A9296-A458-807B-392A-9CBB9E2ED2A6}"/>
              </a:ext>
            </a:extLst>
          </p:cNvPr>
          <p:cNvSpPr txBox="1">
            <a:spLocks/>
          </p:cNvSpPr>
          <p:nvPr/>
        </p:nvSpPr>
        <p:spPr>
          <a:xfrm>
            <a:off x="279685" y="391796"/>
            <a:ext cx="2033392" cy="565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algn="l"/>
            <a:r>
              <a:rPr lang="en-US" sz="1400" b="0" dirty="0"/>
              <a:t>Univariate Analysis</a:t>
            </a:r>
          </a:p>
          <a:p>
            <a:pPr algn="l"/>
            <a:r>
              <a:rPr lang="en-US" sz="1400" b="0" dirty="0"/>
              <a:t>Categorical Features:</a:t>
            </a:r>
          </a:p>
        </p:txBody>
      </p:sp>
    </p:spTree>
    <p:extLst>
      <p:ext uri="{BB962C8B-B14F-4D97-AF65-F5344CB8AC3E}">
        <p14:creationId xmlns:p14="http://schemas.microsoft.com/office/powerpoint/2010/main" val="30021448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>
          <a:extLst>
            <a:ext uri="{FF2B5EF4-FFF2-40B4-BE49-F238E27FC236}">
              <a16:creationId xmlns:a16="http://schemas.microsoft.com/office/drawing/2014/main" id="{3B74D1EB-E802-0141-3B6B-35D40880A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3">
            <a:extLst>
              <a:ext uri="{FF2B5EF4-FFF2-40B4-BE49-F238E27FC236}">
                <a16:creationId xmlns:a16="http://schemas.microsoft.com/office/drawing/2014/main" id="{EBAF02B4-E24D-9BDA-DB69-C3F14E8F58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85"/>
            <a:ext cx="2610742" cy="3543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600" dirty="0">
                <a:solidFill>
                  <a:schemeClr val="dk1"/>
                </a:solidFill>
              </a:rPr>
              <a:t>EXPLORE DATA ANALYSIS</a:t>
            </a:r>
            <a:endParaRPr sz="1600" dirty="0"/>
          </a:p>
        </p:txBody>
      </p:sp>
      <p:sp>
        <p:nvSpPr>
          <p:cNvPr id="4" name="Google Shape;1002;p33">
            <a:extLst>
              <a:ext uri="{FF2B5EF4-FFF2-40B4-BE49-F238E27FC236}">
                <a16:creationId xmlns:a16="http://schemas.microsoft.com/office/drawing/2014/main" id="{73171D78-E745-C350-5CAD-47AE8C22F3B0}"/>
              </a:ext>
            </a:extLst>
          </p:cNvPr>
          <p:cNvSpPr txBox="1"/>
          <p:nvPr/>
        </p:nvSpPr>
        <p:spPr>
          <a:xfrm>
            <a:off x="248953" y="1906244"/>
            <a:ext cx="4156792" cy="2146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b="1" dirty="0"/>
              <a:t>Overall Conclusion:</a:t>
            </a:r>
            <a:br>
              <a:rPr lang="en-US" sz="1200" dirty="0"/>
            </a:br>
            <a:r>
              <a:rPr lang="en-US" sz="1200" dirty="0"/>
              <a:t>There is no strong linear relationship between most numerical features and price.</a:t>
            </a:r>
            <a:br>
              <a:rPr lang="en-US" sz="1200" dirty="0"/>
            </a:br>
            <a:r>
              <a:rPr lang="en-US" sz="1200" dirty="0"/>
              <a:t>However, a </a:t>
            </a:r>
            <a:r>
              <a:rPr lang="en-US" sz="1200" b="1" dirty="0"/>
              <a:t>slight negative correlation</a:t>
            </a:r>
            <a:r>
              <a:rPr lang="en-US" sz="1200" dirty="0"/>
              <a:t> can be observed between </a:t>
            </a:r>
            <a:r>
              <a:rPr lang="en-US" sz="1200" b="1" dirty="0"/>
              <a:t>price</a:t>
            </a:r>
            <a:r>
              <a:rPr lang="en-US" sz="1200" dirty="0"/>
              <a:t> and </a:t>
            </a:r>
            <a:r>
              <a:rPr lang="en-US" sz="1200" b="1" dirty="0"/>
              <a:t>fuel efficiency variables</a:t>
            </a:r>
            <a:r>
              <a:rPr lang="en-US" sz="1200" dirty="0"/>
              <a:t> such as </a:t>
            </a:r>
            <a:r>
              <a:rPr lang="en-US" sz="1200" i="1" dirty="0" err="1"/>
              <a:t>citympg</a:t>
            </a:r>
            <a:r>
              <a:rPr lang="en-US" sz="1200" dirty="0"/>
              <a:t> and </a:t>
            </a:r>
            <a:r>
              <a:rPr lang="en-US" sz="1200" i="1" dirty="0" err="1"/>
              <a:t>highwaympg</a:t>
            </a:r>
            <a:r>
              <a:rPr lang="en-US" sz="1200" dirty="0"/>
              <a:t> — indicating that </a:t>
            </a:r>
            <a:r>
              <a:rPr lang="en-US" sz="1200" b="1" dirty="0"/>
              <a:t>more expensive cars tend to have lower fuel efficiency</a:t>
            </a:r>
            <a:r>
              <a:rPr lang="en-US" sz="1200" dirty="0"/>
              <a:t>.</a:t>
            </a:r>
            <a:br>
              <a:rPr lang="en-US" sz="1200" dirty="0"/>
            </a:br>
            <a:r>
              <a:rPr lang="en-US" sz="1200" dirty="0"/>
              <a:t>Other features like </a:t>
            </a:r>
            <a:r>
              <a:rPr lang="en-US" sz="1200" i="1" dirty="0" err="1"/>
              <a:t>compressionratio</a:t>
            </a:r>
            <a:r>
              <a:rPr lang="en-US" sz="1200" dirty="0"/>
              <a:t>, </a:t>
            </a:r>
            <a:r>
              <a:rPr lang="en-US" sz="1200" i="1" dirty="0" err="1"/>
              <a:t>boreratio</a:t>
            </a:r>
            <a:r>
              <a:rPr lang="en-US" sz="1200" dirty="0"/>
              <a:t>, </a:t>
            </a:r>
            <a:r>
              <a:rPr lang="en-US" sz="1200" i="1" dirty="0" err="1"/>
              <a:t>peakrpm</a:t>
            </a:r>
            <a:r>
              <a:rPr lang="en-US" sz="1200" dirty="0"/>
              <a:t>, </a:t>
            </a:r>
            <a:r>
              <a:rPr lang="en-US" sz="1200" i="1" dirty="0"/>
              <a:t>stroke</a:t>
            </a:r>
            <a:r>
              <a:rPr lang="en-US" sz="1200" dirty="0"/>
              <a:t>, and </a:t>
            </a:r>
            <a:r>
              <a:rPr lang="en-US" sz="1200" i="1" dirty="0" err="1"/>
              <a:t>carheight</a:t>
            </a:r>
            <a:r>
              <a:rPr lang="en-US" sz="1200" dirty="0"/>
              <a:t> show </a:t>
            </a:r>
            <a:r>
              <a:rPr lang="en-US" sz="1200" b="1" dirty="0"/>
              <a:t>weak or no visible correlation</a:t>
            </a:r>
            <a:r>
              <a:rPr lang="en-US" sz="1200" dirty="0"/>
              <a:t> with price.</a:t>
            </a:r>
          </a:p>
        </p:txBody>
      </p:sp>
      <p:sp>
        <p:nvSpPr>
          <p:cNvPr id="2" name="Google Shape;737;p33">
            <a:extLst>
              <a:ext uri="{FF2B5EF4-FFF2-40B4-BE49-F238E27FC236}">
                <a16:creationId xmlns:a16="http://schemas.microsoft.com/office/drawing/2014/main" id="{76636A4F-7FBC-461E-D00C-99CE0FA91BD1}"/>
              </a:ext>
            </a:extLst>
          </p:cNvPr>
          <p:cNvSpPr txBox="1">
            <a:spLocks/>
          </p:cNvSpPr>
          <p:nvPr/>
        </p:nvSpPr>
        <p:spPr>
          <a:xfrm>
            <a:off x="180035" y="560339"/>
            <a:ext cx="2033392" cy="565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algn="l"/>
            <a:r>
              <a:rPr lang="en-US" sz="1500" b="0" dirty="0"/>
              <a:t>Bivariate Analysis</a:t>
            </a:r>
          </a:p>
          <a:p>
            <a:pPr algn="l"/>
            <a:r>
              <a:rPr lang="en-US" sz="1500" b="0" dirty="0"/>
              <a:t>Numerical Features: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60A67C-CB5D-F1E2-6372-D86B1BC6AD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021" y="3368974"/>
            <a:ext cx="2311552" cy="16600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532454A-F952-FC84-FD9B-6C8F79DB76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8193" y="0"/>
            <a:ext cx="2264573" cy="168597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D821935-0BFC-52BB-A877-78D23770A7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3594" y="1730854"/>
            <a:ext cx="2219172" cy="16048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92A58E18-235A-2235-5682-4B5593D43F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9021" y="26262"/>
            <a:ext cx="2219172" cy="168597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2A521BC-07C3-5DD8-A3BA-E78586B6DB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0" y="1719209"/>
            <a:ext cx="2358573" cy="160488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1828C9E-1E18-32D7-6F8A-845CCE52F2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2953" y="3380619"/>
            <a:ext cx="2060317" cy="160488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E8A66D50-5FD7-C63D-155B-DD298964F33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01280" y="36124"/>
            <a:ext cx="2117741" cy="1538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787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>
          <a:extLst>
            <a:ext uri="{FF2B5EF4-FFF2-40B4-BE49-F238E27FC236}">
              <a16:creationId xmlns:a16="http://schemas.microsoft.com/office/drawing/2014/main" id="{9729B753-F0CE-4835-518C-312F2BA24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3">
            <a:extLst>
              <a:ext uri="{FF2B5EF4-FFF2-40B4-BE49-F238E27FC236}">
                <a16:creationId xmlns:a16="http://schemas.microsoft.com/office/drawing/2014/main" id="{4109580E-7EF9-EF52-5A89-F3A4A593B9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945" y="68482"/>
            <a:ext cx="2610742" cy="3543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600" dirty="0">
                <a:solidFill>
                  <a:schemeClr val="dk1"/>
                </a:solidFill>
              </a:rPr>
              <a:t>EXPLORE DATA ANALYSIS</a:t>
            </a:r>
            <a:endParaRPr sz="1600" dirty="0"/>
          </a:p>
        </p:txBody>
      </p:sp>
      <p:sp>
        <p:nvSpPr>
          <p:cNvPr id="4" name="Google Shape;1002;p33">
            <a:extLst>
              <a:ext uri="{FF2B5EF4-FFF2-40B4-BE49-F238E27FC236}">
                <a16:creationId xmlns:a16="http://schemas.microsoft.com/office/drawing/2014/main" id="{C7F00FAC-D616-4526-719E-4829E5091862}"/>
              </a:ext>
            </a:extLst>
          </p:cNvPr>
          <p:cNvSpPr txBox="1"/>
          <p:nvPr/>
        </p:nvSpPr>
        <p:spPr>
          <a:xfrm>
            <a:off x="279685" y="2297739"/>
            <a:ext cx="5746601" cy="221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b="1" dirty="0"/>
              <a:t>1. </a:t>
            </a:r>
            <a:r>
              <a:rPr lang="en-US" sz="1200" b="1" dirty="0" err="1"/>
              <a:t>Carwidth</a:t>
            </a:r>
            <a:endParaRPr lang="en-US" sz="1200" b="1" dirty="0"/>
          </a:p>
          <a:p>
            <a:r>
              <a:rPr lang="en-US" sz="1200" b="1" dirty="0"/>
              <a:t>Insight:</a:t>
            </a:r>
            <a:r>
              <a:rPr lang="en-US" sz="1200" dirty="0"/>
              <a:t> There is a strong positive correlation between </a:t>
            </a:r>
            <a:r>
              <a:rPr lang="en-US" sz="1200" i="1" dirty="0" err="1"/>
              <a:t>carwidth</a:t>
            </a:r>
            <a:r>
              <a:rPr lang="en-US" sz="1200" dirty="0"/>
              <a:t> and </a:t>
            </a:r>
            <a:r>
              <a:rPr lang="en-US" sz="1200" i="1" dirty="0"/>
              <a:t>price</a:t>
            </a:r>
            <a:r>
              <a:rPr lang="en-US" sz="1200" dirty="0"/>
              <a:t>.</a:t>
            </a:r>
            <a:br>
              <a:rPr lang="en-US" sz="1200" dirty="0"/>
            </a:br>
            <a:r>
              <a:rPr lang="en-US" sz="1200" dirty="0"/>
              <a:t>Wider cars tend to be more expensive, indicating that </a:t>
            </a:r>
            <a:r>
              <a:rPr lang="en-US" sz="1200" i="1" dirty="0" err="1"/>
              <a:t>carwidth</a:t>
            </a:r>
            <a:r>
              <a:rPr lang="en-US" sz="1200" dirty="0"/>
              <a:t> is a strong indicator of luxury and performance level.</a:t>
            </a:r>
          </a:p>
          <a:p>
            <a:r>
              <a:rPr lang="en-US" sz="1200" b="1" dirty="0"/>
              <a:t>2. Wheelbase</a:t>
            </a:r>
          </a:p>
          <a:p>
            <a:r>
              <a:rPr lang="en-US" sz="1200" b="1" dirty="0"/>
              <a:t>Insight:</a:t>
            </a:r>
            <a:r>
              <a:rPr lang="en-US" sz="1200" dirty="0"/>
              <a:t> </a:t>
            </a:r>
            <a:r>
              <a:rPr lang="en-US" sz="1200" i="1" dirty="0"/>
              <a:t>Wheelbase</a:t>
            </a:r>
            <a:r>
              <a:rPr lang="en-US" sz="1200" dirty="0"/>
              <a:t> shows a positive relationship with </a:t>
            </a:r>
            <a:r>
              <a:rPr lang="en-US" sz="1200" i="1" dirty="0"/>
              <a:t>price.</a:t>
            </a:r>
            <a:br>
              <a:rPr lang="en-US" sz="1200" dirty="0"/>
            </a:br>
            <a:r>
              <a:rPr lang="en-US" sz="1200" dirty="0"/>
              <a:t>Cars with longer wheelbases generally have higher prices.</a:t>
            </a:r>
          </a:p>
          <a:p>
            <a:r>
              <a:rPr lang="en-US" sz="1200" b="1" dirty="0"/>
              <a:t>3. </a:t>
            </a:r>
            <a:r>
              <a:rPr lang="en-US" sz="1200" b="1" dirty="0" err="1"/>
              <a:t>Carlength</a:t>
            </a:r>
            <a:endParaRPr lang="en-US" sz="1200" b="1" dirty="0"/>
          </a:p>
          <a:p>
            <a:r>
              <a:rPr lang="en-US" sz="1200" b="1" dirty="0"/>
              <a:t>Insight:</a:t>
            </a:r>
            <a:r>
              <a:rPr lang="en-US" sz="1200" dirty="0"/>
              <a:t> </a:t>
            </a:r>
            <a:r>
              <a:rPr lang="en-US" sz="1200" i="1" dirty="0" err="1"/>
              <a:t>Carlength</a:t>
            </a:r>
            <a:r>
              <a:rPr lang="en-US" sz="1200" dirty="0"/>
              <a:t> demonstrates a moderate positive correlation with </a:t>
            </a:r>
            <a:r>
              <a:rPr lang="en-US" sz="1200" i="1" dirty="0"/>
              <a:t>price.</a:t>
            </a:r>
            <a:br>
              <a:rPr lang="en-US" sz="1200" dirty="0"/>
            </a:br>
            <a:r>
              <a:rPr lang="en-US" sz="1200" dirty="0"/>
              <a:t>Longer vehicles tend to cost more, though the correlation is not as strong as for </a:t>
            </a:r>
            <a:r>
              <a:rPr lang="en-US" sz="1200" i="1" dirty="0" err="1"/>
              <a:t>carwidth</a:t>
            </a:r>
            <a:r>
              <a:rPr lang="en-US" sz="1200" dirty="0"/>
              <a:t> or </a:t>
            </a:r>
            <a:r>
              <a:rPr lang="en-US" sz="1200" i="1" dirty="0"/>
              <a:t>wheelbase.</a:t>
            </a:r>
            <a:endParaRPr lang="en-US" sz="1200" dirty="0"/>
          </a:p>
          <a:p>
            <a:endParaRPr lang="en-US" sz="1200" dirty="0"/>
          </a:p>
        </p:txBody>
      </p:sp>
      <p:sp>
        <p:nvSpPr>
          <p:cNvPr id="2" name="Google Shape;737;p33">
            <a:extLst>
              <a:ext uri="{FF2B5EF4-FFF2-40B4-BE49-F238E27FC236}">
                <a16:creationId xmlns:a16="http://schemas.microsoft.com/office/drawing/2014/main" id="{F78699A4-FD5B-AFAE-8AF7-8B78AC3D7B52}"/>
              </a:ext>
            </a:extLst>
          </p:cNvPr>
          <p:cNvSpPr txBox="1">
            <a:spLocks/>
          </p:cNvSpPr>
          <p:nvPr/>
        </p:nvSpPr>
        <p:spPr>
          <a:xfrm>
            <a:off x="202812" y="634565"/>
            <a:ext cx="2033392" cy="565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algn="l"/>
            <a:r>
              <a:rPr lang="en-US" sz="1500" b="0" dirty="0"/>
              <a:t>Bivariate Analysis</a:t>
            </a:r>
          </a:p>
          <a:p>
            <a:pPr algn="l"/>
            <a:r>
              <a:rPr lang="en-US" sz="1500" b="0" dirty="0"/>
              <a:t>Numerical Features: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4FD1C1-F2E2-BBED-7F61-4EAFEF9757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8890" y="0"/>
            <a:ext cx="2876165" cy="20495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6FBBB70-CFDB-D483-9BB9-C8A0FD3E8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0847" y="2459619"/>
            <a:ext cx="2834208" cy="20495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EB073D-7794-8794-72AC-964A68DC9B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4202" y="0"/>
            <a:ext cx="2712084" cy="198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921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>
          <a:extLst>
            <a:ext uri="{FF2B5EF4-FFF2-40B4-BE49-F238E27FC236}">
              <a16:creationId xmlns:a16="http://schemas.microsoft.com/office/drawing/2014/main" id="{DF40E27D-FD15-4E84-7F95-CFA3AFB41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3">
            <a:extLst>
              <a:ext uri="{FF2B5EF4-FFF2-40B4-BE49-F238E27FC236}">
                <a16:creationId xmlns:a16="http://schemas.microsoft.com/office/drawing/2014/main" id="{5BF43714-8E87-1DF7-3AE8-36B05F224C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945" y="68482"/>
            <a:ext cx="2610742" cy="3543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600" dirty="0">
                <a:solidFill>
                  <a:schemeClr val="dk1"/>
                </a:solidFill>
              </a:rPr>
              <a:t>EXPLORE DATA ANALYSIS</a:t>
            </a:r>
            <a:endParaRPr sz="1600" dirty="0"/>
          </a:p>
        </p:txBody>
      </p:sp>
      <p:sp>
        <p:nvSpPr>
          <p:cNvPr id="4" name="Google Shape;1002;p33">
            <a:extLst>
              <a:ext uri="{FF2B5EF4-FFF2-40B4-BE49-F238E27FC236}">
                <a16:creationId xmlns:a16="http://schemas.microsoft.com/office/drawing/2014/main" id="{43694D82-6EBC-B6B9-A577-DB15D11FA02C}"/>
              </a:ext>
            </a:extLst>
          </p:cNvPr>
          <p:cNvSpPr txBox="1"/>
          <p:nvPr/>
        </p:nvSpPr>
        <p:spPr>
          <a:xfrm>
            <a:off x="279685" y="2203532"/>
            <a:ext cx="5451765" cy="18489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b="1" dirty="0"/>
              <a:t>4. Horsepower</a:t>
            </a:r>
          </a:p>
          <a:p>
            <a:r>
              <a:rPr lang="en-US" sz="1200" b="1" dirty="0"/>
              <a:t>Insight:</a:t>
            </a:r>
            <a:r>
              <a:rPr lang="en-US" sz="1200" dirty="0"/>
              <a:t> There is a clear positive correlation between </a:t>
            </a:r>
            <a:r>
              <a:rPr lang="en-US" sz="1200" i="1" dirty="0"/>
              <a:t>horsepower</a:t>
            </a:r>
            <a:r>
              <a:rPr lang="en-US" sz="1200" dirty="0"/>
              <a:t> and </a:t>
            </a:r>
            <a:r>
              <a:rPr lang="en-US" sz="1200" i="1" dirty="0"/>
              <a:t>price.</a:t>
            </a:r>
            <a:br>
              <a:rPr lang="en-US" sz="1200" dirty="0"/>
            </a:br>
            <a:r>
              <a:rPr lang="en-US" sz="1200" dirty="0"/>
              <a:t>Cars with higher horsepower tend to have significantly higher prices.</a:t>
            </a:r>
          </a:p>
          <a:p>
            <a:r>
              <a:rPr lang="en-US" sz="1200" b="1" dirty="0"/>
              <a:t>5. </a:t>
            </a:r>
            <a:r>
              <a:rPr lang="en-US" sz="1200" b="1" dirty="0" err="1"/>
              <a:t>Curbweight</a:t>
            </a:r>
            <a:endParaRPr lang="en-US" sz="1200" b="1" dirty="0"/>
          </a:p>
          <a:p>
            <a:r>
              <a:rPr lang="en-US" sz="1200" b="1" dirty="0"/>
              <a:t>Insight:</a:t>
            </a:r>
            <a:r>
              <a:rPr lang="en-US" sz="1200" dirty="0"/>
              <a:t> </a:t>
            </a:r>
            <a:r>
              <a:rPr lang="en-US" sz="1200" i="1" dirty="0" err="1"/>
              <a:t>Curbweight</a:t>
            </a:r>
            <a:r>
              <a:rPr lang="en-US" sz="1200" dirty="0"/>
              <a:t> shows a strong positive relationship with </a:t>
            </a:r>
            <a:r>
              <a:rPr lang="en-US" sz="1200" i="1" dirty="0"/>
              <a:t>price.</a:t>
            </a:r>
            <a:br>
              <a:rPr lang="en-US" sz="1200" dirty="0"/>
            </a:br>
            <a:r>
              <a:rPr lang="en-US" sz="1200" dirty="0"/>
              <a:t>Heavier cars generally have higher prices.</a:t>
            </a:r>
          </a:p>
          <a:p>
            <a:r>
              <a:rPr lang="en-US" sz="1200" b="1" dirty="0"/>
              <a:t>6. </a:t>
            </a:r>
            <a:r>
              <a:rPr lang="en-US" sz="1200" b="1" dirty="0" err="1"/>
              <a:t>Enginesize</a:t>
            </a:r>
            <a:endParaRPr lang="en-US" sz="1200" b="1" dirty="0"/>
          </a:p>
          <a:p>
            <a:r>
              <a:rPr lang="en-US" sz="1200" b="1" dirty="0"/>
              <a:t>Insight:</a:t>
            </a:r>
            <a:r>
              <a:rPr lang="en-US" sz="1200" dirty="0"/>
              <a:t> </a:t>
            </a:r>
            <a:r>
              <a:rPr lang="en-US" sz="1200" i="1" dirty="0" err="1"/>
              <a:t>Enginesize</a:t>
            </a:r>
            <a:r>
              <a:rPr lang="en-US" sz="1200" dirty="0"/>
              <a:t> has one of the strongest correlations with </a:t>
            </a:r>
            <a:r>
              <a:rPr lang="en-US" sz="1200" i="1" dirty="0"/>
              <a:t>price.</a:t>
            </a:r>
            <a:br>
              <a:rPr lang="en-US" sz="1200" dirty="0"/>
            </a:br>
            <a:r>
              <a:rPr lang="en-US" sz="1200" dirty="0"/>
              <a:t>Cars with larger engine sizes are consistently more expensive.</a:t>
            </a:r>
          </a:p>
          <a:p>
            <a:endParaRPr lang="en-US" sz="1200" dirty="0"/>
          </a:p>
        </p:txBody>
      </p:sp>
      <p:sp>
        <p:nvSpPr>
          <p:cNvPr id="2" name="Google Shape;737;p33">
            <a:extLst>
              <a:ext uri="{FF2B5EF4-FFF2-40B4-BE49-F238E27FC236}">
                <a16:creationId xmlns:a16="http://schemas.microsoft.com/office/drawing/2014/main" id="{EB48D2AA-16C7-37C0-C229-47EB67FC64C8}"/>
              </a:ext>
            </a:extLst>
          </p:cNvPr>
          <p:cNvSpPr txBox="1">
            <a:spLocks/>
          </p:cNvSpPr>
          <p:nvPr/>
        </p:nvSpPr>
        <p:spPr>
          <a:xfrm>
            <a:off x="279685" y="391796"/>
            <a:ext cx="2033392" cy="565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algn="l"/>
            <a:r>
              <a:rPr lang="en-US" sz="1500" b="0" dirty="0"/>
              <a:t>Bivariate Analysis</a:t>
            </a:r>
          </a:p>
          <a:p>
            <a:pPr algn="l"/>
            <a:r>
              <a:rPr lang="en-US" sz="1500" b="0" dirty="0"/>
              <a:t>Numerical Features: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780E83-3279-A684-69CD-652B4E7908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992" y="0"/>
            <a:ext cx="2959664" cy="21035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B368AAB-33D9-E230-4CE5-9B758DCE9C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984"/>
          <a:stretch>
            <a:fillRect/>
          </a:stretch>
        </p:blipFill>
        <p:spPr>
          <a:xfrm>
            <a:off x="6145127" y="2376608"/>
            <a:ext cx="2930529" cy="21035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DA01D5C-9C91-5532-CB58-D13B671442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2051" y="0"/>
            <a:ext cx="2713182" cy="1953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628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>
          <a:extLst>
            <a:ext uri="{FF2B5EF4-FFF2-40B4-BE49-F238E27FC236}">
              <a16:creationId xmlns:a16="http://schemas.microsoft.com/office/drawing/2014/main" id="{537D8E68-9C3D-1937-1658-1763A65E7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3">
            <a:extLst>
              <a:ext uri="{FF2B5EF4-FFF2-40B4-BE49-F238E27FC236}">
                <a16:creationId xmlns:a16="http://schemas.microsoft.com/office/drawing/2014/main" id="{B2882152-BE29-3EB8-C248-D22F4F090A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945" y="68482"/>
            <a:ext cx="2610742" cy="3543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600" dirty="0">
                <a:solidFill>
                  <a:schemeClr val="dk1"/>
                </a:solidFill>
              </a:rPr>
              <a:t>EXPLORE DATA ANALYSIS</a:t>
            </a:r>
            <a:endParaRPr sz="1600" dirty="0"/>
          </a:p>
        </p:txBody>
      </p:sp>
      <p:sp>
        <p:nvSpPr>
          <p:cNvPr id="4" name="Google Shape;1002;p33">
            <a:extLst>
              <a:ext uri="{FF2B5EF4-FFF2-40B4-BE49-F238E27FC236}">
                <a16:creationId xmlns:a16="http://schemas.microsoft.com/office/drawing/2014/main" id="{07328E52-CE49-4A16-F655-C66192420A9A}"/>
              </a:ext>
            </a:extLst>
          </p:cNvPr>
          <p:cNvSpPr txBox="1"/>
          <p:nvPr/>
        </p:nvSpPr>
        <p:spPr>
          <a:xfrm>
            <a:off x="275020" y="1224575"/>
            <a:ext cx="2893290" cy="3519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b="1" dirty="0"/>
              <a:t>1. </a:t>
            </a:r>
            <a:r>
              <a:rPr lang="en-US" sz="1200" b="1" dirty="0" err="1"/>
              <a:t>Doornumber</a:t>
            </a:r>
            <a:endParaRPr lang="en-US" sz="1200" b="1" dirty="0"/>
          </a:p>
          <a:p>
            <a:r>
              <a:rPr lang="en-US" sz="1200" b="1" dirty="0"/>
              <a:t>Insight:</a:t>
            </a:r>
            <a:r>
              <a:rPr lang="en-US" sz="1200" dirty="0"/>
              <a:t> There is little difference in price between cars with </a:t>
            </a:r>
            <a:r>
              <a:rPr lang="en-US" sz="1200" i="1" dirty="0"/>
              <a:t>two</a:t>
            </a:r>
            <a:r>
              <a:rPr lang="en-US" sz="1200" dirty="0"/>
              <a:t> and </a:t>
            </a:r>
            <a:r>
              <a:rPr lang="en-US" sz="1200" i="1" dirty="0"/>
              <a:t>four</a:t>
            </a:r>
            <a:r>
              <a:rPr lang="en-US" sz="1200" dirty="0"/>
              <a:t> doors.</a:t>
            </a:r>
          </a:p>
          <a:p>
            <a:r>
              <a:rPr lang="en-US" sz="1200" b="1" dirty="0"/>
              <a:t>2. </a:t>
            </a:r>
            <a:r>
              <a:rPr lang="en-US" sz="1200" b="1" dirty="0" err="1"/>
              <a:t>Fueltype</a:t>
            </a:r>
            <a:endParaRPr lang="en-US" sz="1200" b="1" dirty="0"/>
          </a:p>
          <a:p>
            <a:r>
              <a:rPr lang="en-US" sz="1200" b="1" dirty="0"/>
              <a:t>Insight:</a:t>
            </a:r>
            <a:r>
              <a:rPr lang="en-US" sz="1200" dirty="0"/>
              <a:t> </a:t>
            </a:r>
            <a:r>
              <a:rPr lang="en-US" sz="1200" i="1" dirty="0"/>
              <a:t>Diesel</a:t>
            </a:r>
            <a:r>
              <a:rPr lang="en-US" sz="1200" dirty="0"/>
              <a:t> cars generally have slightly higher prices than </a:t>
            </a:r>
            <a:r>
              <a:rPr lang="en-US" sz="1200" i="1" dirty="0"/>
              <a:t>gas</a:t>
            </a:r>
            <a:r>
              <a:rPr lang="en-US" sz="1200" dirty="0"/>
              <a:t> cars.</a:t>
            </a:r>
          </a:p>
          <a:p>
            <a:r>
              <a:rPr lang="en-US" sz="1200" b="1" dirty="0"/>
              <a:t>3. </a:t>
            </a:r>
            <a:r>
              <a:rPr lang="en-US" sz="1200" b="1" dirty="0" err="1"/>
              <a:t>Enginelocation</a:t>
            </a:r>
            <a:endParaRPr lang="en-US" sz="1200" b="1" dirty="0"/>
          </a:p>
          <a:p>
            <a:r>
              <a:rPr lang="en-US" sz="1200" b="1" dirty="0"/>
              <a:t>Insight:</a:t>
            </a:r>
            <a:r>
              <a:rPr lang="en-US" sz="1200" dirty="0"/>
              <a:t> Cars with </a:t>
            </a:r>
            <a:r>
              <a:rPr lang="en-US" sz="1200" i="1" dirty="0"/>
              <a:t>rear</a:t>
            </a:r>
            <a:r>
              <a:rPr lang="en-US" sz="1200" dirty="0"/>
              <a:t> engine placement are significantly more expensive than those with </a:t>
            </a:r>
            <a:r>
              <a:rPr lang="en-US" sz="1200" i="1" dirty="0"/>
              <a:t>front</a:t>
            </a:r>
            <a:r>
              <a:rPr lang="en-US" sz="1200" dirty="0"/>
              <a:t> engines.</a:t>
            </a:r>
          </a:p>
          <a:p>
            <a:endParaRPr lang="en-US" sz="1200" dirty="0"/>
          </a:p>
        </p:txBody>
      </p:sp>
      <p:sp>
        <p:nvSpPr>
          <p:cNvPr id="2" name="Google Shape;737;p33">
            <a:extLst>
              <a:ext uri="{FF2B5EF4-FFF2-40B4-BE49-F238E27FC236}">
                <a16:creationId xmlns:a16="http://schemas.microsoft.com/office/drawing/2014/main" id="{9D7FD381-2506-930E-502C-1802E9B514DD}"/>
              </a:ext>
            </a:extLst>
          </p:cNvPr>
          <p:cNvSpPr txBox="1">
            <a:spLocks/>
          </p:cNvSpPr>
          <p:nvPr/>
        </p:nvSpPr>
        <p:spPr>
          <a:xfrm>
            <a:off x="279685" y="391796"/>
            <a:ext cx="2033392" cy="565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algn="l"/>
            <a:r>
              <a:rPr lang="en-US" sz="1500" b="0" dirty="0"/>
              <a:t>Bivariate Analysis</a:t>
            </a:r>
          </a:p>
          <a:p>
            <a:pPr algn="l"/>
            <a:r>
              <a:rPr lang="en-US" sz="1500" b="0" dirty="0"/>
              <a:t>Categorical Features: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8C9BAB-88AC-F5E6-F0B4-FD4C32FE6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842" y="230002"/>
            <a:ext cx="2681213" cy="19891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135A06-54A0-98F2-5F87-C289AB16AA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0380" y="2665084"/>
            <a:ext cx="2694675" cy="20889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C34340C-59D5-63B4-E71D-82FEA182AD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49167" y="186488"/>
            <a:ext cx="2681213" cy="19630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33F9D44-9174-ACC6-62CE-5B4543A352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28050" y="2731303"/>
            <a:ext cx="2702330" cy="195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5837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6">
          <a:extLst>
            <a:ext uri="{FF2B5EF4-FFF2-40B4-BE49-F238E27FC236}">
              <a16:creationId xmlns:a16="http://schemas.microsoft.com/office/drawing/2014/main" id="{E6AA6EDD-17E5-C090-512A-1D00F8447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002;p33">
            <a:extLst>
              <a:ext uri="{FF2B5EF4-FFF2-40B4-BE49-F238E27FC236}">
                <a16:creationId xmlns:a16="http://schemas.microsoft.com/office/drawing/2014/main" id="{52252681-799F-1A0B-F6C3-450D62C9C9B0}"/>
              </a:ext>
            </a:extLst>
          </p:cNvPr>
          <p:cNvSpPr txBox="1"/>
          <p:nvPr/>
        </p:nvSpPr>
        <p:spPr>
          <a:xfrm>
            <a:off x="-10345" y="1251759"/>
            <a:ext cx="4335554" cy="4027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b="1" dirty="0"/>
              <a:t>1. </a:t>
            </a:r>
            <a:r>
              <a:rPr lang="en-US" sz="1200" b="1" dirty="0" err="1"/>
              <a:t>Fuelsystem</a:t>
            </a:r>
            <a:endParaRPr lang="en-US" sz="1200" b="1" dirty="0"/>
          </a:p>
          <a:p>
            <a:r>
              <a:rPr lang="en-US" sz="1200" b="1" dirty="0"/>
              <a:t>Insight:</a:t>
            </a:r>
            <a:r>
              <a:rPr lang="en-US" sz="1200" dirty="0"/>
              <a:t> The </a:t>
            </a:r>
            <a:r>
              <a:rPr lang="en-US" sz="1200" i="1" dirty="0"/>
              <a:t>MPFI</a:t>
            </a:r>
            <a:r>
              <a:rPr lang="en-US" sz="1200" dirty="0"/>
              <a:t> (Multi-Point Fuel Injection) system is associated with higher car prices, while systems like </a:t>
            </a:r>
            <a:r>
              <a:rPr lang="en-US" sz="1200" i="1" dirty="0"/>
              <a:t>2bbl</a:t>
            </a:r>
            <a:r>
              <a:rPr lang="en-US" sz="1200" dirty="0"/>
              <a:t>, </a:t>
            </a:r>
            <a:r>
              <a:rPr lang="en-US" sz="1200" i="1" dirty="0"/>
              <a:t>1bbl</a:t>
            </a:r>
            <a:r>
              <a:rPr lang="en-US" sz="1200" dirty="0"/>
              <a:t>, and </a:t>
            </a:r>
            <a:r>
              <a:rPr lang="en-US" sz="1200" i="1" dirty="0" err="1"/>
              <a:t>mfi</a:t>
            </a:r>
            <a:r>
              <a:rPr lang="en-US" sz="1200" dirty="0"/>
              <a:t> correspond to lower-priced models.</a:t>
            </a:r>
          </a:p>
          <a:p>
            <a:r>
              <a:rPr lang="en-US" sz="1200" b="1" dirty="0"/>
              <a:t>2. </a:t>
            </a:r>
            <a:r>
              <a:rPr lang="en-US" sz="1200" b="1" dirty="0" err="1"/>
              <a:t>Carbody</a:t>
            </a:r>
            <a:endParaRPr lang="en-US" sz="1200" b="1" dirty="0"/>
          </a:p>
          <a:p>
            <a:r>
              <a:rPr lang="en-US" sz="1200" b="1" dirty="0"/>
              <a:t>Insight:</a:t>
            </a:r>
            <a:r>
              <a:rPr lang="en-US" sz="1200" dirty="0"/>
              <a:t> </a:t>
            </a:r>
            <a:r>
              <a:rPr lang="en-US" sz="1200" i="1" dirty="0"/>
              <a:t>Convertible</a:t>
            </a:r>
            <a:r>
              <a:rPr lang="en-US" sz="1200" dirty="0"/>
              <a:t> and </a:t>
            </a:r>
            <a:r>
              <a:rPr lang="en-US" sz="1200" i="1" dirty="0"/>
              <a:t>hardtop</a:t>
            </a:r>
            <a:r>
              <a:rPr lang="en-US" sz="1200" dirty="0"/>
              <a:t> cars tend to have the highest prices, while </a:t>
            </a:r>
            <a:r>
              <a:rPr lang="en-US" sz="1200" i="1" dirty="0"/>
              <a:t>hatchback</a:t>
            </a:r>
            <a:r>
              <a:rPr lang="en-US" sz="1200" dirty="0"/>
              <a:t> and </a:t>
            </a:r>
            <a:r>
              <a:rPr lang="en-US" sz="1200" i="1" dirty="0"/>
              <a:t>sedan</a:t>
            </a:r>
            <a:r>
              <a:rPr lang="en-US" sz="1200" dirty="0"/>
              <a:t> models are more affordable.</a:t>
            </a:r>
          </a:p>
          <a:p>
            <a:r>
              <a:rPr lang="en-US" sz="1200" b="1" dirty="0"/>
              <a:t>3. </a:t>
            </a:r>
            <a:r>
              <a:rPr lang="en-US" sz="1200" b="1" dirty="0" err="1"/>
              <a:t>Drivewheel</a:t>
            </a:r>
            <a:endParaRPr lang="en-US" sz="1200" b="1" dirty="0"/>
          </a:p>
          <a:p>
            <a:r>
              <a:rPr lang="en-US" sz="1200" b="1" dirty="0"/>
              <a:t>Insight:</a:t>
            </a:r>
            <a:r>
              <a:rPr lang="en-US" sz="1200" dirty="0"/>
              <a:t> Cars with </a:t>
            </a:r>
            <a:r>
              <a:rPr lang="en-US" sz="1200" i="1" dirty="0" err="1"/>
              <a:t>rwd</a:t>
            </a:r>
            <a:r>
              <a:rPr lang="en-US" sz="1200" dirty="0"/>
              <a:t> (rear-wheel drive) generally show higher prices than </a:t>
            </a:r>
            <a:r>
              <a:rPr lang="en-US" sz="1200" i="1" dirty="0" err="1"/>
              <a:t>fwd</a:t>
            </a:r>
            <a:r>
              <a:rPr lang="en-US" sz="1200" dirty="0"/>
              <a:t> or </a:t>
            </a:r>
            <a:r>
              <a:rPr lang="en-US" sz="1200" i="1" dirty="0"/>
              <a:t>4wd</a:t>
            </a:r>
            <a:r>
              <a:rPr lang="en-US" sz="1200" dirty="0"/>
              <a:t> vehicles.</a:t>
            </a:r>
          </a:p>
          <a:p>
            <a:r>
              <a:rPr lang="en-US" sz="1200" b="1" dirty="0"/>
              <a:t>4. </a:t>
            </a:r>
            <a:r>
              <a:rPr lang="en-US" sz="1200" b="1" dirty="0" err="1"/>
              <a:t>Cylindernumber</a:t>
            </a:r>
            <a:endParaRPr lang="en-US" sz="1200" b="1" dirty="0"/>
          </a:p>
          <a:p>
            <a:r>
              <a:rPr lang="en-US" sz="1200" b="1" dirty="0"/>
              <a:t>Insight:</a:t>
            </a:r>
            <a:r>
              <a:rPr lang="en-US" sz="1200" dirty="0"/>
              <a:t> Cars with </a:t>
            </a:r>
            <a:r>
              <a:rPr lang="en-US" sz="1200" i="1" dirty="0"/>
              <a:t>eight</a:t>
            </a:r>
            <a:r>
              <a:rPr lang="en-US" sz="1200" dirty="0"/>
              <a:t> or </a:t>
            </a:r>
            <a:r>
              <a:rPr lang="en-US" sz="1200" i="1" dirty="0"/>
              <a:t>twelve</a:t>
            </a:r>
            <a:r>
              <a:rPr lang="en-US" sz="1200" dirty="0"/>
              <a:t> cylinders are significantly more expensive, while </a:t>
            </a:r>
            <a:r>
              <a:rPr lang="en-US" sz="1200" i="1" dirty="0"/>
              <a:t>four-cylinder</a:t>
            </a:r>
            <a:r>
              <a:rPr lang="en-US" sz="1200" dirty="0"/>
              <a:t> engines dominate lower price ranges.</a:t>
            </a:r>
          </a:p>
          <a:p>
            <a:r>
              <a:rPr lang="en-US" sz="1200" b="1" dirty="0"/>
              <a:t>5. </a:t>
            </a:r>
            <a:r>
              <a:rPr lang="en-US" sz="1200" b="1" dirty="0" err="1"/>
              <a:t>Enginetype</a:t>
            </a:r>
            <a:endParaRPr lang="en-US" sz="1200" b="1" dirty="0"/>
          </a:p>
          <a:p>
            <a:r>
              <a:rPr lang="en-US" sz="1200" b="1" dirty="0"/>
              <a:t>Insight:</a:t>
            </a:r>
            <a:r>
              <a:rPr lang="en-US" sz="1200" dirty="0"/>
              <a:t> </a:t>
            </a:r>
            <a:r>
              <a:rPr lang="en-US" sz="1200" i="1" dirty="0"/>
              <a:t>DOHC</a:t>
            </a:r>
            <a:r>
              <a:rPr lang="en-US" sz="1200" dirty="0"/>
              <a:t> (Double Overhead Camshaft) and </a:t>
            </a:r>
            <a:r>
              <a:rPr lang="en-US" sz="1200" i="1" dirty="0"/>
              <a:t>DOHCV</a:t>
            </a:r>
            <a:r>
              <a:rPr lang="en-US" sz="1200" dirty="0"/>
              <a:t> engines correspond to higher-priced cars, while </a:t>
            </a:r>
            <a:r>
              <a:rPr lang="en-US" sz="1200" i="1" dirty="0"/>
              <a:t>OHCF</a:t>
            </a:r>
            <a:r>
              <a:rPr lang="en-US" sz="1200" dirty="0"/>
              <a:t> and </a:t>
            </a:r>
            <a:r>
              <a:rPr lang="en-US" sz="1200" i="1" dirty="0"/>
              <a:t>rotor</a:t>
            </a:r>
            <a:r>
              <a:rPr lang="en-US" sz="1200" dirty="0"/>
              <a:t> types are generally in the lower range.</a:t>
            </a:r>
          </a:p>
          <a:p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FD998B-2CC8-9811-C482-DAFD697973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522" y="719433"/>
            <a:ext cx="2151882" cy="17263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6B68EB6-381B-6B92-40C0-D86A9FCE38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5372" y="49083"/>
            <a:ext cx="2400828" cy="171044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ADA4667-31F3-4992-A90D-5AF9740DA8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5372" y="3383974"/>
            <a:ext cx="2446619" cy="171044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93D768C6-1AF6-C7EB-E4CF-4FBA47FF86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5372" y="1759526"/>
            <a:ext cx="2262201" cy="171044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465E4E2-CF88-9B7A-14EE-E32D925AEF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4522" y="2697679"/>
            <a:ext cx="2151882" cy="1544581"/>
          </a:xfrm>
          <a:prstGeom prst="rect">
            <a:avLst/>
          </a:prstGeom>
        </p:spPr>
      </p:pic>
      <p:sp>
        <p:nvSpPr>
          <p:cNvPr id="2" name="Google Shape;737;p33">
            <a:extLst>
              <a:ext uri="{FF2B5EF4-FFF2-40B4-BE49-F238E27FC236}">
                <a16:creationId xmlns:a16="http://schemas.microsoft.com/office/drawing/2014/main" id="{A7CA3E20-78EE-1641-0744-CEC338886D10}"/>
              </a:ext>
            </a:extLst>
          </p:cNvPr>
          <p:cNvSpPr txBox="1">
            <a:spLocks/>
          </p:cNvSpPr>
          <p:nvPr/>
        </p:nvSpPr>
        <p:spPr>
          <a:xfrm>
            <a:off x="97800" y="521281"/>
            <a:ext cx="2033392" cy="565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Fira Sans"/>
              <a:buNone/>
              <a:defRPr sz="1800" b="1" i="0" u="none" strike="noStrike" cap="none">
                <a:solidFill>
                  <a:srgbClr val="000000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pPr algn="l"/>
            <a:r>
              <a:rPr lang="en-US" sz="1500" b="0" dirty="0"/>
              <a:t>Bivariate Analysis</a:t>
            </a:r>
          </a:p>
          <a:p>
            <a:pPr algn="l"/>
            <a:r>
              <a:rPr lang="en-US" sz="1500" b="0" dirty="0"/>
              <a:t>Categorical Features:</a:t>
            </a:r>
          </a:p>
        </p:txBody>
      </p:sp>
      <p:sp>
        <p:nvSpPr>
          <p:cNvPr id="3" name="Google Shape;737;p33">
            <a:extLst>
              <a:ext uri="{FF2B5EF4-FFF2-40B4-BE49-F238E27FC236}">
                <a16:creationId xmlns:a16="http://schemas.microsoft.com/office/drawing/2014/main" id="{ACCE8213-A046-37DB-3997-987F6D3D47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8945" y="68482"/>
            <a:ext cx="2610742" cy="3543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600" dirty="0">
                <a:solidFill>
                  <a:schemeClr val="dk1"/>
                </a:solidFill>
              </a:rPr>
              <a:t>EXPLORE DATA ANALYSIS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34165772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37"/>
          <p:cNvSpPr txBox="1">
            <a:spLocks noGrp="1"/>
          </p:cNvSpPr>
          <p:nvPr>
            <p:ph type="title"/>
          </p:nvPr>
        </p:nvSpPr>
        <p:spPr>
          <a:xfrm>
            <a:off x="455343" y="41583"/>
            <a:ext cx="8229600" cy="3740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</a:rPr>
              <a:t>MODEL SELECTION</a:t>
            </a:r>
            <a:endParaRPr lang="en-US" dirty="0"/>
          </a:p>
        </p:txBody>
      </p:sp>
      <p:sp>
        <p:nvSpPr>
          <p:cNvPr id="1241" name="Google Shape;1241;p37"/>
          <p:cNvSpPr txBox="1"/>
          <p:nvPr/>
        </p:nvSpPr>
        <p:spPr>
          <a:xfrm>
            <a:off x="370776" y="418390"/>
            <a:ext cx="3995915" cy="1447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b="1" dirty="0">
                <a:highlight>
                  <a:srgbClr val="FFFFFF"/>
                </a:highlight>
              </a:rPr>
              <a:t>Data Preprocessing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highlight>
                  <a:srgbClr val="FFFFFF"/>
                </a:highlight>
              </a:rPr>
              <a:t>Before feeding the data into the model, all features were </a:t>
            </a:r>
            <a:r>
              <a:rPr lang="en-US" sz="1200" b="1" dirty="0">
                <a:highlight>
                  <a:srgbClr val="FFFFFF"/>
                </a:highlight>
              </a:rPr>
              <a:t>encoded</a:t>
            </a:r>
            <a:r>
              <a:rPr lang="en-US" sz="1200" dirty="0">
                <a:highlight>
                  <a:srgbClr val="FFFFFF"/>
                </a:highlight>
              </a:rPr>
              <a:t> and </a:t>
            </a:r>
            <a:r>
              <a:rPr lang="en-US" sz="1200" b="1" dirty="0">
                <a:highlight>
                  <a:srgbClr val="FFFFFF"/>
                </a:highlight>
              </a:rPr>
              <a:t>scaled</a:t>
            </a:r>
            <a:r>
              <a:rPr lang="en-US" sz="1200" dirty="0">
                <a:highlight>
                  <a:srgbClr val="FFFFFF"/>
                </a:highlight>
              </a:rPr>
              <a:t> to ensure consistent value ranges.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highlight>
                  <a:srgbClr val="FFFFFF"/>
                </a:highlight>
              </a:rPr>
              <a:t>The features selected for model training include:</a:t>
            </a:r>
            <a:br>
              <a:rPr lang="en-US" sz="1200" dirty="0">
                <a:highlight>
                  <a:srgbClr val="FFFFFF"/>
                </a:highlight>
              </a:rPr>
            </a:br>
            <a:r>
              <a:rPr lang="en-US" sz="1200" b="1" dirty="0">
                <a:highlight>
                  <a:srgbClr val="FFFFFF"/>
                </a:highlight>
              </a:rPr>
              <a:t>wheelbase</a:t>
            </a:r>
            <a:r>
              <a:rPr lang="en-US" sz="1200" dirty="0">
                <a:highlight>
                  <a:srgbClr val="FFFFFF"/>
                </a:highlight>
              </a:rPr>
              <a:t>, </a:t>
            </a:r>
            <a:r>
              <a:rPr lang="en-US" sz="1200" b="1" dirty="0" err="1">
                <a:highlight>
                  <a:srgbClr val="FFFFFF"/>
                </a:highlight>
              </a:rPr>
              <a:t>carlength</a:t>
            </a:r>
            <a:r>
              <a:rPr lang="en-US" sz="1200" dirty="0">
                <a:highlight>
                  <a:srgbClr val="FFFFFF"/>
                </a:highlight>
              </a:rPr>
              <a:t>, </a:t>
            </a:r>
            <a:r>
              <a:rPr lang="en-US" sz="1200" b="1" dirty="0" err="1">
                <a:highlight>
                  <a:srgbClr val="FFFFFF"/>
                </a:highlight>
              </a:rPr>
              <a:t>carwidth</a:t>
            </a:r>
            <a:r>
              <a:rPr lang="en-US" sz="1200" dirty="0">
                <a:highlight>
                  <a:srgbClr val="FFFFFF"/>
                </a:highlight>
              </a:rPr>
              <a:t>, </a:t>
            </a:r>
            <a:r>
              <a:rPr lang="en-US" sz="1200" b="1" dirty="0" err="1">
                <a:highlight>
                  <a:srgbClr val="FFFFFF"/>
                </a:highlight>
              </a:rPr>
              <a:t>curbweight</a:t>
            </a:r>
            <a:r>
              <a:rPr lang="en-US" sz="1200" dirty="0">
                <a:highlight>
                  <a:srgbClr val="FFFFFF"/>
                </a:highlight>
              </a:rPr>
              <a:t>, </a:t>
            </a:r>
            <a:r>
              <a:rPr lang="en-US" sz="1200" b="1" dirty="0" err="1">
                <a:highlight>
                  <a:srgbClr val="FFFFFF"/>
                </a:highlight>
              </a:rPr>
              <a:t>enginesize</a:t>
            </a:r>
            <a:r>
              <a:rPr lang="en-US" sz="1200" dirty="0">
                <a:highlight>
                  <a:srgbClr val="FFFFFF"/>
                </a:highlight>
              </a:rPr>
              <a:t>, and </a:t>
            </a:r>
            <a:r>
              <a:rPr lang="en-US" sz="1200" b="1" dirty="0">
                <a:highlight>
                  <a:srgbClr val="FFFFFF"/>
                </a:highlight>
              </a:rPr>
              <a:t>horsepower</a:t>
            </a:r>
            <a:r>
              <a:rPr lang="en-US" sz="1200" dirty="0">
                <a:highlight>
                  <a:srgbClr val="FFFFFF"/>
                </a:highlight>
              </a:rPr>
              <a:t> — all showing strong positive correlation with </a:t>
            </a:r>
            <a:r>
              <a:rPr lang="en-US" sz="1200" b="1" dirty="0">
                <a:highlight>
                  <a:srgbClr val="FFFFFF"/>
                </a:highlight>
              </a:rPr>
              <a:t>price</a:t>
            </a:r>
            <a:r>
              <a:rPr lang="en-US" sz="1200" dirty="0">
                <a:highlight>
                  <a:srgbClr val="FFFFFF"/>
                </a:highlight>
              </a:rPr>
              <a:t>, as seen in the heatmap.</a:t>
            </a:r>
          </a:p>
          <a:p>
            <a:pPr marL="171450" lvl="0" indent="-171450">
              <a:buFontTx/>
              <a:buChar char="-"/>
            </a:pPr>
            <a:endParaRPr lang="en-US" sz="1200" dirty="0">
              <a:highlight>
                <a:srgbClr val="FFFFFF"/>
              </a:highlight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6" name="Google Shape;1241;p37">
            <a:extLst>
              <a:ext uri="{FF2B5EF4-FFF2-40B4-BE49-F238E27FC236}">
                <a16:creationId xmlns:a16="http://schemas.microsoft.com/office/drawing/2014/main" id="{E4F45561-30FC-0228-7970-709F47826E04}"/>
              </a:ext>
            </a:extLst>
          </p:cNvPr>
          <p:cNvSpPr txBox="1"/>
          <p:nvPr/>
        </p:nvSpPr>
        <p:spPr>
          <a:xfrm>
            <a:off x="370775" y="3216856"/>
            <a:ext cx="3653969" cy="1508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b="1" dirty="0">
                <a:highlight>
                  <a:srgbClr val="FFFFFF"/>
                </a:highlight>
              </a:rPr>
              <a:t>Models Used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highlight>
                  <a:srgbClr val="FFFFFF"/>
                </a:highlight>
              </a:rPr>
              <a:t>Random Forest Regressor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highlight>
                  <a:srgbClr val="FFFFFF"/>
                </a:highlight>
              </a:rPr>
              <a:t>CatBoost</a:t>
            </a:r>
            <a:r>
              <a:rPr lang="en-US" sz="1200" dirty="0">
                <a:highlight>
                  <a:srgbClr val="FFFFFF"/>
                </a:highlight>
              </a:rPr>
              <a:t> Regressor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highlight>
                  <a:srgbClr val="FFFFFF"/>
                </a:highlight>
              </a:rPr>
              <a:t>XGBoost</a:t>
            </a:r>
            <a:r>
              <a:rPr lang="en-US" sz="1200" dirty="0">
                <a:highlight>
                  <a:srgbClr val="FFFFFF"/>
                </a:highlight>
              </a:rPr>
              <a:t> Regressor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highlight>
                  <a:srgbClr val="FFFFFF"/>
                </a:highlight>
              </a:rPr>
              <a:t>Gradient Boosting Regressor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highlight>
                  <a:srgbClr val="FFFFFF"/>
                </a:highlight>
              </a:rPr>
              <a:t>Linear Regressor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>
                <a:highlight>
                  <a:srgbClr val="FFFFFF"/>
                </a:highlight>
              </a:rPr>
              <a:t>LightGBM</a:t>
            </a:r>
            <a:r>
              <a:rPr lang="en-US" sz="1200" dirty="0">
                <a:highlight>
                  <a:srgbClr val="FFFFFF"/>
                </a:highlight>
              </a:rPr>
              <a:t> Regressor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A1BA33-4838-D5B1-85D5-B0573FCEA4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9029" y="523083"/>
            <a:ext cx="3997771" cy="14478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34F133A-CC3A-F77A-5F1E-3E465BC6B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291567"/>
            <a:ext cx="4384495" cy="2722955"/>
          </a:xfrm>
          <a:prstGeom prst="rect">
            <a:avLst/>
          </a:prstGeom>
        </p:spPr>
      </p:pic>
      <p:sp>
        <p:nvSpPr>
          <p:cNvPr id="8" name="Google Shape;1241;p37">
            <a:extLst>
              <a:ext uri="{FF2B5EF4-FFF2-40B4-BE49-F238E27FC236}">
                <a16:creationId xmlns:a16="http://schemas.microsoft.com/office/drawing/2014/main" id="{8B41DF03-58C9-39E6-BA92-CD55EF30776E}"/>
              </a:ext>
            </a:extLst>
          </p:cNvPr>
          <p:cNvSpPr txBox="1"/>
          <p:nvPr/>
        </p:nvSpPr>
        <p:spPr>
          <a:xfrm>
            <a:off x="373566" y="2109435"/>
            <a:ext cx="3993125" cy="1028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b="1" dirty="0">
                <a:highlight>
                  <a:srgbClr val="FFFFFF"/>
                </a:highlight>
              </a:rPr>
              <a:t>Training Process</a:t>
            </a:r>
          </a:p>
          <a:p>
            <a:r>
              <a:rPr lang="en-US" sz="1200" dirty="0">
                <a:highlight>
                  <a:srgbClr val="FFFFFF"/>
                </a:highlight>
              </a:rPr>
              <a:t>The dataset was divided into </a:t>
            </a:r>
            <a:r>
              <a:rPr lang="en-US" sz="1200" b="1" dirty="0">
                <a:highlight>
                  <a:srgbClr val="FFFFFF"/>
                </a:highlight>
              </a:rPr>
              <a:t>training (80%)</a:t>
            </a:r>
            <a:r>
              <a:rPr lang="en-US" sz="1200" dirty="0">
                <a:highlight>
                  <a:srgbClr val="FFFFFF"/>
                </a:highlight>
              </a:rPr>
              <a:t> and </a:t>
            </a:r>
            <a:r>
              <a:rPr lang="en-US" sz="1200" b="1" dirty="0">
                <a:highlight>
                  <a:srgbClr val="FFFFFF"/>
                </a:highlight>
              </a:rPr>
              <a:t>testing (20%)</a:t>
            </a:r>
            <a:r>
              <a:rPr lang="en-US" sz="1200" dirty="0">
                <a:highlight>
                  <a:srgbClr val="FFFFFF"/>
                </a:highlight>
              </a:rPr>
              <a:t> subsets.</a:t>
            </a:r>
          </a:p>
          <a:p>
            <a:r>
              <a:rPr lang="en-US" sz="1200" dirty="0">
                <a:highlight>
                  <a:srgbClr val="FFFFFF"/>
                </a:highlight>
              </a:rPr>
              <a:t>All models were trained using their </a:t>
            </a:r>
            <a:r>
              <a:rPr lang="en-US" sz="1200" b="1" dirty="0">
                <a:highlight>
                  <a:srgbClr val="FFFFFF"/>
                </a:highlight>
              </a:rPr>
              <a:t>default hyperparameters</a:t>
            </a:r>
            <a:r>
              <a:rPr lang="en-US" sz="1200" dirty="0">
                <a:highlight>
                  <a:srgbClr val="FFFFFF"/>
                </a:highlight>
              </a:rPr>
              <a:t> as the initial setup.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n-US" sz="1200" dirty="0">
              <a:highlight>
                <a:srgbClr val="FFFFFF"/>
              </a:highlight>
              <a:latin typeface="+mj-lt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4">
          <a:extLst>
            <a:ext uri="{FF2B5EF4-FFF2-40B4-BE49-F238E27FC236}">
              <a16:creationId xmlns:a16="http://schemas.microsoft.com/office/drawing/2014/main" id="{B7FF9A7E-E4CE-F453-6E20-5F2C572DE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37">
            <a:extLst>
              <a:ext uri="{FF2B5EF4-FFF2-40B4-BE49-F238E27FC236}">
                <a16:creationId xmlns:a16="http://schemas.microsoft.com/office/drawing/2014/main" id="{6C4D1FDC-4CB4-9A43-ED07-FAA4FE4F62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34969"/>
            <a:ext cx="8229600" cy="4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EVALUATION AND RESULT</a:t>
            </a:r>
          </a:p>
        </p:txBody>
      </p:sp>
      <p:sp>
        <p:nvSpPr>
          <p:cNvPr id="1241" name="Google Shape;1241;p37">
            <a:extLst>
              <a:ext uri="{FF2B5EF4-FFF2-40B4-BE49-F238E27FC236}">
                <a16:creationId xmlns:a16="http://schemas.microsoft.com/office/drawing/2014/main" id="{7D6AC3A1-E99D-5410-39D0-5A56D33D7616}"/>
              </a:ext>
            </a:extLst>
          </p:cNvPr>
          <p:cNvSpPr txBox="1"/>
          <p:nvPr/>
        </p:nvSpPr>
        <p:spPr>
          <a:xfrm>
            <a:off x="788020" y="2571750"/>
            <a:ext cx="7356088" cy="22997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b="1" dirty="0">
                <a:highlight>
                  <a:srgbClr val="FFFFFF"/>
                </a:highlight>
              </a:rPr>
              <a:t>1. Model Comparison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highlight>
                  <a:srgbClr val="FFFFFF"/>
                </a:highlight>
              </a:rPr>
              <a:t>From the table, several regression models were tested to predict car prices.</a:t>
            </a:r>
            <a:br>
              <a:rPr lang="en-US" sz="1200" dirty="0">
                <a:highlight>
                  <a:srgbClr val="FFFFFF"/>
                </a:highlight>
              </a:rPr>
            </a:br>
            <a:r>
              <a:rPr lang="en-US" sz="1200" dirty="0">
                <a:highlight>
                  <a:srgbClr val="FFFFFF"/>
                </a:highlight>
              </a:rPr>
              <a:t>The performance metrics (MAE, MSE, RMSE, R²) indicate that: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highlight>
                  <a:srgbClr val="FFFFFF"/>
                </a:highlight>
              </a:rPr>
              <a:t>Random Forest Regressor</a:t>
            </a:r>
            <a:r>
              <a:rPr lang="en-US" sz="1200" dirty="0">
                <a:highlight>
                  <a:srgbClr val="FFFFFF"/>
                </a:highlight>
              </a:rPr>
              <a:t> delivers the </a:t>
            </a:r>
            <a:r>
              <a:rPr lang="en-US" sz="1200" b="1" dirty="0">
                <a:highlight>
                  <a:srgbClr val="FFFFFF"/>
                </a:highlight>
              </a:rPr>
              <a:t>best performance</a:t>
            </a:r>
            <a:r>
              <a:rPr lang="en-US" sz="1200" dirty="0">
                <a:highlight>
                  <a:srgbClr val="FFFFFF"/>
                </a:highlight>
              </a:rPr>
              <a:t> among all models.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highlight>
                  <a:srgbClr val="FFFFFF"/>
                </a:highlight>
              </a:rPr>
              <a:t>MAE = </a:t>
            </a:r>
            <a:r>
              <a:rPr lang="en-US" sz="1200" b="1" dirty="0">
                <a:highlight>
                  <a:srgbClr val="FFFFFF"/>
                </a:highlight>
              </a:rPr>
              <a:t>1308</a:t>
            </a:r>
            <a:r>
              <a:rPr lang="en-US" sz="1200" dirty="0">
                <a:highlight>
                  <a:srgbClr val="FFFFFF"/>
                </a:highlight>
              </a:rPr>
              <a:t>, RMSE = </a:t>
            </a:r>
            <a:r>
              <a:rPr lang="en-US" sz="1200" b="1" dirty="0">
                <a:highlight>
                  <a:srgbClr val="FFFFFF"/>
                </a:highlight>
              </a:rPr>
              <a:t>1951.0</a:t>
            </a:r>
            <a:r>
              <a:rPr lang="en-US" sz="1200" dirty="0">
                <a:highlight>
                  <a:srgbClr val="FFFFFF"/>
                </a:highlight>
              </a:rPr>
              <a:t>, R² = </a:t>
            </a:r>
            <a:r>
              <a:rPr lang="en-US" sz="1200" b="1" dirty="0">
                <a:highlight>
                  <a:srgbClr val="FFFFFF"/>
                </a:highlight>
              </a:rPr>
              <a:t>0.952</a:t>
            </a:r>
            <a:endParaRPr lang="en-US" sz="1200" dirty="0">
              <a:highlight>
                <a:srgbClr val="FFFFFF"/>
              </a:highlight>
            </a:endParaRP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highlight>
                  <a:srgbClr val="FFFFFF"/>
                </a:highlight>
              </a:rPr>
              <a:t>It achieves the </a:t>
            </a:r>
            <a:r>
              <a:rPr lang="en-US" sz="1200" b="1" dirty="0">
                <a:highlight>
                  <a:srgbClr val="FFFFFF"/>
                </a:highlight>
              </a:rPr>
              <a:t>lowest prediction error</a:t>
            </a:r>
            <a:r>
              <a:rPr lang="en-US" sz="1200" dirty="0">
                <a:highlight>
                  <a:srgbClr val="FFFFFF"/>
                </a:highlight>
              </a:rPr>
              <a:t> and the </a:t>
            </a:r>
            <a:r>
              <a:rPr lang="en-US" sz="1200" b="1" dirty="0">
                <a:highlight>
                  <a:srgbClr val="FFFFFF"/>
                </a:highlight>
              </a:rPr>
              <a:t>highest R² score</a:t>
            </a:r>
            <a:r>
              <a:rPr lang="en-US" sz="1200" dirty="0">
                <a:highlight>
                  <a:srgbClr val="FFFFFF"/>
                </a:highlight>
              </a:rPr>
              <a:t>, meaning it fits the data very well.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 err="1">
                <a:highlight>
                  <a:srgbClr val="FFFFFF"/>
                </a:highlight>
              </a:rPr>
              <a:t>CatBoost</a:t>
            </a:r>
            <a:r>
              <a:rPr lang="en-US" sz="1200" b="1" dirty="0">
                <a:highlight>
                  <a:srgbClr val="FFFFFF"/>
                </a:highlight>
              </a:rPr>
              <a:t> Regressor</a:t>
            </a:r>
            <a:r>
              <a:rPr lang="en-US" sz="1200" dirty="0">
                <a:highlight>
                  <a:srgbClr val="FFFFFF"/>
                </a:highlight>
              </a:rPr>
              <a:t> also performs strongly, with an R² of </a:t>
            </a:r>
            <a:r>
              <a:rPr lang="en-US" sz="1200" b="1" dirty="0">
                <a:highlight>
                  <a:srgbClr val="FFFFFF"/>
                </a:highlight>
              </a:rPr>
              <a:t>0.934</a:t>
            </a:r>
            <a:r>
              <a:rPr lang="en-US" sz="1200" dirty="0">
                <a:highlight>
                  <a:srgbClr val="FFFFFF"/>
                </a:highlight>
              </a:rPr>
              <a:t>, but slightly below Random Forest.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>
                <a:highlight>
                  <a:srgbClr val="FFFFFF"/>
                </a:highlight>
              </a:rPr>
              <a:t>Linear Regression</a:t>
            </a:r>
            <a:r>
              <a:rPr lang="en-US" sz="1200" dirty="0">
                <a:highlight>
                  <a:srgbClr val="FFFFFF"/>
                </a:highlight>
              </a:rPr>
              <a:t> performs the weakest, showing the highest error and lowest accuracy, suggesting the relationship between features and price is </a:t>
            </a:r>
            <a:r>
              <a:rPr lang="en-US" sz="1200" b="1" dirty="0">
                <a:highlight>
                  <a:srgbClr val="FFFFFF"/>
                </a:highlight>
              </a:rPr>
              <a:t>non-linear</a:t>
            </a:r>
            <a:r>
              <a:rPr lang="en-US" sz="1200" dirty="0">
                <a:highlight>
                  <a:srgbClr val="FFFFFF"/>
                </a:highlight>
              </a:rPr>
              <a:t>.</a:t>
            </a:r>
          </a:p>
          <a:p>
            <a:r>
              <a:rPr lang="en-US" sz="1200" b="1" dirty="0"/>
              <a:t>Conclusion</a:t>
            </a:r>
          </a:p>
          <a:p>
            <a:r>
              <a:rPr lang="en-US" sz="1200" b="1" dirty="0"/>
              <a:t>Random Forest Regressor</a:t>
            </a:r>
            <a:r>
              <a:rPr lang="en-US" sz="1200" dirty="0"/>
              <a:t> is the </a:t>
            </a:r>
            <a:r>
              <a:rPr lang="en-US" sz="1200" b="1" dirty="0"/>
              <a:t>most accurate and reliable model</a:t>
            </a:r>
            <a:r>
              <a:rPr lang="en-US" sz="1200" dirty="0"/>
              <a:t> for predicting car prices in this dataset.</a:t>
            </a:r>
          </a:p>
          <a:p>
            <a:endParaRPr lang="en-US" sz="1200" dirty="0">
              <a:highlight>
                <a:srgbClr val="FFFFFF"/>
              </a:highlight>
            </a:endParaRPr>
          </a:p>
          <a:p>
            <a:pPr marL="228600" lvl="0" indent="-228600" rtl="0">
              <a:spcBef>
                <a:spcPts val="0"/>
              </a:spcBef>
              <a:spcAft>
                <a:spcPts val="0"/>
              </a:spcAft>
              <a:buAutoNum type="arabicPeriod"/>
            </a:pPr>
            <a:endParaRPr lang="en-US" sz="1100" dirty="0">
              <a:highlight>
                <a:srgbClr val="FFFFFF"/>
              </a:highlight>
              <a:latin typeface="+mj-lt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65667AE-D761-2F60-5538-31A857321B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1297243"/>
              </p:ext>
            </p:extLst>
          </p:nvPr>
        </p:nvGraphicFramePr>
        <p:xfrm>
          <a:off x="788021" y="424603"/>
          <a:ext cx="7356087" cy="2051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8579">
                  <a:extLst>
                    <a:ext uri="{9D8B030D-6E8A-4147-A177-3AD203B41FA5}">
                      <a16:colId xmlns:a16="http://schemas.microsoft.com/office/drawing/2014/main" val="744025869"/>
                    </a:ext>
                  </a:extLst>
                </a:gridCol>
                <a:gridCol w="795576">
                  <a:extLst>
                    <a:ext uri="{9D8B030D-6E8A-4147-A177-3AD203B41FA5}">
                      <a16:colId xmlns:a16="http://schemas.microsoft.com/office/drawing/2014/main" val="3519159537"/>
                    </a:ext>
                  </a:extLst>
                </a:gridCol>
                <a:gridCol w="1352924">
                  <a:extLst>
                    <a:ext uri="{9D8B030D-6E8A-4147-A177-3AD203B41FA5}">
                      <a16:colId xmlns:a16="http://schemas.microsoft.com/office/drawing/2014/main" val="4243822818"/>
                    </a:ext>
                  </a:extLst>
                </a:gridCol>
                <a:gridCol w="1554504">
                  <a:extLst>
                    <a:ext uri="{9D8B030D-6E8A-4147-A177-3AD203B41FA5}">
                      <a16:colId xmlns:a16="http://schemas.microsoft.com/office/drawing/2014/main" val="4212942991"/>
                    </a:ext>
                  </a:extLst>
                </a:gridCol>
                <a:gridCol w="1554504">
                  <a:extLst>
                    <a:ext uri="{9D8B030D-6E8A-4147-A177-3AD203B41FA5}">
                      <a16:colId xmlns:a16="http://schemas.microsoft.com/office/drawing/2014/main" val="108610276"/>
                    </a:ext>
                  </a:extLst>
                </a:gridCol>
              </a:tblGrid>
              <a:tr h="293118">
                <a:tc>
                  <a:txBody>
                    <a:bodyPr/>
                    <a:lstStyle/>
                    <a:p>
                      <a:r>
                        <a:rPr lang="en-US" sz="11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983445"/>
                  </a:ext>
                </a:extLst>
              </a:tr>
              <a:tr h="293118">
                <a:tc>
                  <a:txBody>
                    <a:bodyPr/>
                    <a:lstStyle/>
                    <a:p>
                      <a:r>
                        <a:rPr lang="en-US" sz="1100" dirty="0"/>
                        <a:t>Linear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2699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14248520.0 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3774.0 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0.820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174530"/>
                  </a:ext>
                </a:extLst>
              </a:tr>
              <a:tr h="293118">
                <a:tc>
                  <a:txBody>
                    <a:bodyPr/>
                    <a:lstStyle/>
                    <a:p>
                      <a:r>
                        <a:rPr lang="en-US" sz="1100" dirty="0">
                          <a:solidFill>
                            <a:srgbClr val="FF0000"/>
                          </a:solidFill>
                        </a:rPr>
                        <a:t>Random Forest Regressor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1308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3807549.0 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1951.0 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0.952</a:t>
                      </a:r>
                      <a:endParaRPr lang="en-US" sz="110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2506766"/>
                  </a:ext>
                </a:extLst>
              </a:tr>
              <a:tr h="293118">
                <a:tc>
                  <a:txBody>
                    <a:bodyPr/>
                    <a:lstStyle/>
                    <a:p>
                      <a:r>
                        <a:rPr lang="en-US" sz="1100" dirty="0"/>
                        <a:t>Gradient Boosting Regressor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1620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7410204.0 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2722.0 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0.906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712000"/>
                  </a:ext>
                </a:extLst>
              </a:tr>
              <a:tr h="293118">
                <a:tc>
                  <a:txBody>
                    <a:bodyPr/>
                    <a:lstStyle/>
                    <a:p>
                      <a:r>
                        <a:rPr lang="en-US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XGBRegressor</a:t>
                      </a:r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1577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5458101.0 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2336.0 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0.931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8469912"/>
                  </a:ext>
                </a:extLst>
              </a:tr>
              <a:tr h="293118">
                <a:tc>
                  <a:txBody>
                    <a:bodyPr/>
                    <a:lstStyle/>
                    <a:p>
                      <a:r>
                        <a:rPr lang="en-US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LGBMRegressor</a:t>
                      </a:r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2228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15193283.0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3897.0 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0.808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103544"/>
                  </a:ext>
                </a:extLst>
              </a:tr>
              <a:tr h="293118">
                <a:tc>
                  <a:txBody>
                    <a:bodyPr/>
                    <a:lstStyle/>
                    <a:p>
                      <a:r>
                        <a:rPr lang="en-US" sz="11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CatBoostRegressor</a:t>
                      </a:r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1266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5231102.0 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2287.0</a:t>
                      </a:r>
                      <a:endParaRPr 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0.934</a:t>
                      </a:r>
                      <a:endParaRPr 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58046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41668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4">
          <a:extLst>
            <a:ext uri="{FF2B5EF4-FFF2-40B4-BE49-F238E27FC236}">
              <a16:creationId xmlns:a16="http://schemas.microsoft.com/office/drawing/2014/main" id="{75110865-3E24-8A3B-9204-73CCD1D8B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37">
            <a:extLst>
              <a:ext uri="{FF2B5EF4-FFF2-40B4-BE49-F238E27FC236}">
                <a16:creationId xmlns:a16="http://schemas.microsoft.com/office/drawing/2014/main" id="{40B27E4A-6BDB-1715-C283-CAB4FD9A0C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57200" y="52666"/>
            <a:ext cx="8229600" cy="4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EVALUATION AND RESULT</a:t>
            </a:r>
          </a:p>
        </p:txBody>
      </p:sp>
      <p:sp>
        <p:nvSpPr>
          <p:cNvPr id="1241" name="Google Shape;1241;p37">
            <a:extLst>
              <a:ext uri="{FF2B5EF4-FFF2-40B4-BE49-F238E27FC236}">
                <a16:creationId xmlns:a16="http://schemas.microsoft.com/office/drawing/2014/main" id="{A23EC471-A340-BF37-6501-121F48C8385A}"/>
              </a:ext>
            </a:extLst>
          </p:cNvPr>
          <p:cNvSpPr txBox="1"/>
          <p:nvPr/>
        </p:nvSpPr>
        <p:spPr>
          <a:xfrm>
            <a:off x="202412" y="2471976"/>
            <a:ext cx="5533370" cy="2557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b="1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Random Forest Regressor</a:t>
            </a:r>
            <a:r>
              <a:rPr lang="en-US" altLang="en-US" sz="1200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shows the </a:t>
            </a:r>
            <a:r>
              <a:rPr lang="en-US" altLang="en-US" sz="1200" b="1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closest alignment</a:t>
            </a:r>
            <a:r>
              <a:rPr lang="en-US" altLang="en-US" sz="1200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between predicted and actual values.</a:t>
            </a:r>
            <a:br>
              <a:rPr lang="en-US" altLang="en-US" sz="1200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</a:rPr>
            </a:br>
            <a:r>
              <a:rPr lang="en-US" altLang="en-US" sz="1200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Most of its data points lie </a:t>
            </a:r>
            <a:r>
              <a:rPr lang="en-US" altLang="en-US" sz="1200" b="1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very near the diagonal line</a:t>
            </a:r>
            <a:r>
              <a:rPr lang="en-US" altLang="en-US" sz="1200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, indicating </a:t>
            </a:r>
            <a:r>
              <a:rPr lang="en-US" altLang="en-US" sz="1200" b="1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high prediction accuracy</a:t>
            </a:r>
            <a:r>
              <a:rPr lang="en-US" altLang="en-US" sz="1200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and </a:t>
            </a:r>
            <a:r>
              <a:rPr lang="en-US" altLang="en-US" sz="1200" b="1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strong model fit</a:t>
            </a:r>
            <a:r>
              <a:rPr lang="en-US" altLang="en-US" sz="1200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b="1" dirty="0" err="1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CatBoost</a:t>
            </a:r>
            <a:r>
              <a:rPr lang="en-US" altLang="en-US" sz="1200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and </a:t>
            </a:r>
            <a:r>
              <a:rPr lang="en-US" altLang="en-US" sz="1200" b="1" dirty="0" err="1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XGBoost</a:t>
            </a:r>
            <a:r>
              <a:rPr lang="en-US" altLang="en-US" sz="1200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also show good performance, with data points clustering close to the line, but with </a:t>
            </a:r>
            <a:r>
              <a:rPr lang="en-US" altLang="en-US" sz="1200" b="1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slightly more variance</a:t>
            </a:r>
            <a:r>
              <a:rPr lang="en-US" altLang="en-US" sz="1200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b="1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Gradient Boosting Regressor</a:t>
            </a:r>
            <a:r>
              <a:rPr lang="en-US" altLang="en-US" sz="1200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performs well but exhibits </a:t>
            </a:r>
            <a:r>
              <a:rPr lang="en-US" altLang="en-US" sz="1200" b="1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larger deviations</a:t>
            </a:r>
            <a:r>
              <a:rPr lang="en-US" altLang="en-US" sz="1200" dirty="0">
                <a:solidFill>
                  <a:schemeClr val="tx1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for higher price values.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200" dirty="0">
              <a:solidFill>
                <a:schemeClr val="tx1"/>
              </a:solidFill>
              <a:highlight>
                <a:srgbClr val="FFFFFF"/>
              </a:highlight>
              <a:latin typeface="Arial" panose="020B0604020202020204" pitchFamily="34" charset="0"/>
            </a:endParaRPr>
          </a:p>
          <a:p>
            <a:r>
              <a:rPr lang="en-US" sz="1200" b="1" dirty="0">
                <a:highlight>
                  <a:srgbClr val="FFFFFF"/>
                </a:highlight>
              </a:rPr>
              <a:t>Conclusion</a:t>
            </a:r>
          </a:p>
          <a:p>
            <a:r>
              <a:rPr lang="en-US" sz="1200" dirty="0">
                <a:highlight>
                  <a:srgbClr val="FFFFFF"/>
                </a:highlight>
              </a:rPr>
              <a:t> </a:t>
            </a:r>
            <a:r>
              <a:rPr lang="en-US" sz="1200" b="1" dirty="0">
                <a:highlight>
                  <a:srgbClr val="FFFFFF"/>
                </a:highlight>
              </a:rPr>
              <a:t>Random Forest Regressor</a:t>
            </a:r>
            <a:r>
              <a:rPr lang="en-US" sz="1200" dirty="0">
                <a:highlight>
                  <a:srgbClr val="FFFFFF"/>
                </a:highlight>
              </a:rPr>
              <a:t> is the </a:t>
            </a:r>
            <a:r>
              <a:rPr lang="en-US" sz="1200" b="1" dirty="0">
                <a:highlight>
                  <a:srgbClr val="FFFFFF"/>
                </a:highlight>
              </a:rPr>
              <a:t>best-performing model</a:t>
            </a:r>
            <a:r>
              <a:rPr lang="en-US" sz="1200" dirty="0">
                <a:highlight>
                  <a:srgbClr val="FFFFFF"/>
                </a:highlight>
              </a:rPr>
              <a:t>, offering the </a:t>
            </a:r>
            <a:r>
              <a:rPr lang="en-US" sz="1200" b="1" dirty="0">
                <a:highlight>
                  <a:srgbClr val="FFFFFF"/>
                </a:highlight>
              </a:rPr>
              <a:t>most reliable and consistent predictions</a:t>
            </a:r>
            <a:r>
              <a:rPr lang="en-US" sz="1200" dirty="0">
                <a:highlight>
                  <a:srgbClr val="FFFFFF"/>
                </a:highlight>
              </a:rPr>
              <a:t> for car price estimation.</a:t>
            </a:r>
          </a:p>
          <a:p>
            <a:pPr marL="171450" lvl="0" indent="-171450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sz="1200" dirty="0">
              <a:highlight>
                <a:srgbClr val="FFFFFF"/>
              </a:highlight>
              <a:latin typeface="+mj-lt"/>
              <a:ea typeface="Roboto"/>
              <a:cs typeface="Roboto"/>
              <a:sym typeface="Roboto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7E48C8-5BEF-8A0F-0BFA-B0F95FE0F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472861"/>
            <a:ext cx="3200400" cy="18913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F92D261-CEC5-0205-D243-98081B2B23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72861"/>
            <a:ext cx="2971800" cy="18913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56280D-7B75-1C26-B3FF-5221459C49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800" y="462204"/>
            <a:ext cx="2971800" cy="189136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7DC97F1-9CE0-4E1E-768E-BF02A95F79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5097" y="2763105"/>
            <a:ext cx="3200401" cy="189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028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4">
          <a:extLst>
            <a:ext uri="{FF2B5EF4-FFF2-40B4-BE49-F238E27FC236}">
              <a16:creationId xmlns:a16="http://schemas.microsoft.com/office/drawing/2014/main" id="{79A67F97-73B4-E6CE-8FCC-6ABF87716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37">
            <a:extLst>
              <a:ext uri="{FF2B5EF4-FFF2-40B4-BE49-F238E27FC236}">
                <a16:creationId xmlns:a16="http://schemas.microsoft.com/office/drawing/2014/main" id="{A26BA43C-506E-A00F-7C10-DFFD88F174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44552" y="0"/>
            <a:ext cx="8229600" cy="4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EVALUATION AND RESULT</a:t>
            </a:r>
            <a:endParaRPr dirty="0"/>
          </a:p>
        </p:txBody>
      </p:sp>
      <p:sp>
        <p:nvSpPr>
          <p:cNvPr id="3" name="Google Shape;1241;p37">
            <a:extLst>
              <a:ext uri="{FF2B5EF4-FFF2-40B4-BE49-F238E27FC236}">
                <a16:creationId xmlns:a16="http://schemas.microsoft.com/office/drawing/2014/main" id="{2529587F-67FC-53F1-843F-F9BAE19CE430}"/>
              </a:ext>
            </a:extLst>
          </p:cNvPr>
          <p:cNvSpPr txBox="1"/>
          <p:nvPr/>
        </p:nvSpPr>
        <p:spPr>
          <a:xfrm>
            <a:off x="128915" y="321595"/>
            <a:ext cx="2949497" cy="319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1200" b="1" dirty="0">
                <a:highlight>
                  <a:srgbClr val="FFFFFF"/>
                </a:highlight>
                <a:ea typeface="Roboto"/>
                <a:cs typeface="Roboto"/>
                <a:sym typeface="Roboto"/>
              </a:rPr>
              <a:t>Hyperparameter Tunning Results:</a:t>
            </a:r>
          </a:p>
          <a:p>
            <a:pPr lvl="0"/>
            <a:endParaRPr lang="en-US" sz="1200" dirty="0">
              <a:highlight>
                <a:srgbClr val="FFFFFF"/>
              </a:highlight>
              <a:ea typeface="Roboto"/>
              <a:cs typeface="Roboto"/>
              <a:sym typeface="Roboto"/>
            </a:endParaRP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n-US" sz="1200" dirty="0">
              <a:highlight>
                <a:srgbClr val="FFFFFF"/>
              </a:highlight>
              <a:latin typeface="+mj-lt"/>
              <a:ea typeface="Roboto"/>
              <a:cs typeface="Roboto"/>
              <a:sym typeface="Roboto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BC6874B-D03E-49D4-BDF8-7F952E2FE9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0960367"/>
              </p:ext>
            </p:extLst>
          </p:nvPr>
        </p:nvGraphicFramePr>
        <p:xfrm>
          <a:off x="1376017" y="701708"/>
          <a:ext cx="6788872" cy="17820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6760">
                  <a:extLst>
                    <a:ext uri="{9D8B030D-6E8A-4147-A177-3AD203B41FA5}">
                      <a16:colId xmlns:a16="http://schemas.microsoft.com/office/drawing/2014/main" val="744025869"/>
                    </a:ext>
                  </a:extLst>
                </a:gridCol>
                <a:gridCol w="734231">
                  <a:extLst>
                    <a:ext uri="{9D8B030D-6E8A-4147-A177-3AD203B41FA5}">
                      <a16:colId xmlns:a16="http://schemas.microsoft.com/office/drawing/2014/main" val="3519159537"/>
                    </a:ext>
                  </a:extLst>
                </a:gridCol>
                <a:gridCol w="1248603">
                  <a:extLst>
                    <a:ext uri="{9D8B030D-6E8A-4147-A177-3AD203B41FA5}">
                      <a16:colId xmlns:a16="http://schemas.microsoft.com/office/drawing/2014/main" val="4243822818"/>
                    </a:ext>
                  </a:extLst>
                </a:gridCol>
                <a:gridCol w="1434639">
                  <a:extLst>
                    <a:ext uri="{9D8B030D-6E8A-4147-A177-3AD203B41FA5}">
                      <a16:colId xmlns:a16="http://schemas.microsoft.com/office/drawing/2014/main" val="4212942991"/>
                    </a:ext>
                  </a:extLst>
                </a:gridCol>
                <a:gridCol w="1434639">
                  <a:extLst>
                    <a:ext uri="{9D8B030D-6E8A-4147-A177-3AD203B41FA5}">
                      <a16:colId xmlns:a16="http://schemas.microsoft.com/office/drawing/2014/main" val="108610276"/>
                    </a:ext>
                  </a:extLst>
                </a:gridCol>
              </a:tblGrid>
              <a:tr h="292130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R2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0983445"/>
                  </a:ext>
                </a:extLst>
              </a:tr>
              <a:tr h="39021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>
                          <a:solidFill>
                            <a:srgbClr val="FF0000"/>
                          </a:solidFill>
                        </a:rPr>
                        <a:t>Random Forest Regressor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1421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4314052</a:t>
                      </a:r>
                      <a:r>
                        <a:rPr lang="en-US" sz="1200" b="0" i="0" u="none" strike="noStrike" cap="none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2077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0.945</a:t>
                      </a:r>
                      <a:endParaRPr lang="en-US" sz="1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2506766"/>
                  </a:ext>
                </a:extLst>
              </a:tr>
              <a:tr h="390219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Gradient Boosting Regressor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1526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4874845 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2207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0.938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5712000"/>
                  </a:ext>
                </a:extLst>
              </a:tr>
              <a:tr h="293391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XGBRegressor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1705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5964858 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2442 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0.924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8469912"/>
                  </a:ext>
                </a:extLst>
              </a:tr>
              <a:tr h="282146"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CatBoostRegressor</a:t>
                      </a:r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1260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4655855 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2157</a:t>
                      </a:r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0.94</a:t>
                      </a:r>
                      <a:endParaRPr lang="en-US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75804645"/>
                  </a:ext>
                </a:extLst>
              </a:tr>
            </a:tbl>
          </a:graphicData>
        </a:graphic>
      </p:graphicFrame>
      <p:sp>
        <p:nvSpPr>
          <p:cNvPr id="4" name="Google Shape;1241;p37">
            <a:extLst>
              <a:ext uri="{FF2B5EF4-FFF2-40B4-BE49-F238E27FC236}">
                <a16:creationId xmlns:a16="http://schemas.microsoft.com/office/drawing/2014/main" id="{FAB25996-F5C7-F91E-E8C4-05F3FE55CA06}"/>
              </a:ext>
            </a:extLst>
          </p:cNvPr>
          <p:cNvSpPr txBox="1"/>
          <p:nvPr/>
        </p:nvSpPr>
        <p:spPr>
          <a:xfrm>
            <a:off x="808801" y="2793689"/>
            <a:ext cx="7356088" cy="1743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100" dirty="0">
                <a:highlight>
                  <a:srgbClr val="FFFFFF"/>
                </a:highlight>
              </a:rPr>
              <a:t>After hyperparameter tuning:</a:t>
            </a:r>
          </a:p>
          <a:p>
            <a:r>
              <a:rPr lang="en-US" sz="1100" dirty="0">
                <a:highlight>
                  <a:srgbClr val="FFFFFF"/>
                </a:highlight>
              </a:rPr>
              <a:t>Most models showed </a:t>
            </a:r>
            <a:r>
              <a:rPr lang="en-US" sz="1100" b="1" dirty="0">
                <a:highlight>
                  <a:srgbClr val="FFFFFF"/>
                </a:highlight>
              </a:rPr>
              <a:t>better balance between bias and variance</a:t>
            </a:r>
            <a:r>
              <a:rPr lang="en-US" sz="1100" dirty="0">
                <a:highlight>
                  <a:srgbClr val="FFFFFF"/>
                </a:highlight>
              </a:rPr>
              <a:t>.</a:t>
            </a:r>
          </a:p>
          <a:p>
            <a:r>
              <a:rPr lang="en-US" sz="1100" b="1" dirty="0">
                <a:highlight>
                  <a:srgbClr val="FFFFFF"/>
                </a:highlight>
              </a:rPr>
              <a:t>Random Forest</a:t>
            </a:r>
            <a:r>
              <a:rPr lang="en-US" sz="1100" dirty="0">
                <a:highlight>
                  <a:srgbClr val="FFFFFF"/>
                </a:highlight>
              </a:rPr>
              <a:t> still achieved one of the </a:t>
            </a:r>
            <a:r>
              <a:rPr lang="en-US" sz="1100" b="1" dirty="0">
                <a:highlight>
                  <a:srgbClr val="FFFFFF"/>
                </a:highlight>
              </a:rPr>
              <a:t>best R² scores (0.945)</a:t>
            </a:r>
            <a:r>
              <a:rPr lang="en-US" sz="1100" dirty="0">
                <a:highlight>
                  <a:srgbClr val="FFFFFF"/>
                </a:highlight>
              </a:rPr>
              <a:t> and </a:t>
            </a:r>
            <a:r>
              <a:rPr lang="en-US" sz="1100" b="1" dirty="0">
                <a:highlight>
                  <a:srgbClr val="FFFFFF"/>
                </a:highlight>
              </a:rPr>
              <a:t>lowest RMSE</a:t>
            </a:r>
            <a:r>
              <a:rPr lang="en-US" sz="1100" dirty="0">
                <a:highlight>
                  <a:srgbClr val="FFFFFF"/>
                </a:highlight>
              </a:rPr>
              <a:t>, confirming its </a:t>
            </a:r>
            <a:r>
              <a:rPr lang="en-US" sz="1100" b="1" dirty="0">
                <a:highlight>
                  <a:srgbClr val="FFFFFF"/>
                </a:highlight>
              </a:rPr>
              <a:t>consistency and reliability</a:t>
            </a:r>
            <a:r>
              <a:rPr lang="en-US" sz="1100" dirty="0">
                <a:highlight>
                  <a:srgbClr val="FFFFFF"/>
                </a:highlight>
              </a:rPr>
              <a:t>.</a:t>
            </a:r>
          </a:p>
          <a:p>
            <a:r>
              <a:rPr lang="en-US" sz="1100" b="1" dirty="0" err="1">
                <a:highlight>
                  <a:srgbClr val="FFFFFF"/>
                </a:highlight>
              </a:rPr>
              <a:t>CatBoost</a:t>
            </a:r>
            <a:r>
              <a:rPr lang="en-US" sz="1100" dirty="0">
                <a:highlight>
                  <a:srgbClr val="FFFFFF"/>
                </a:highlight>
              </a:rPr>
              <a:t> emerged as a strong competitor with a slightly higher R² than Gradient Boosting and XGB.</a:t>
            </a:r>
          </a:p>
          <a:p>
            <a:r>
              <a:rPr lang="en-US" sz="1100" b="1" dirty="0">
                <a:highlight>
                  <a:srgbClr val="FFFFFF"/>
                </a:highlight>
              </a:rPr>
              <a:t>Conclusion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highlight>
                  <a:srgbClr val="FFFFFF"/>
                </a:highlight>
              </a:rPr>
              <a:t> </a:t>
            </a:r>
            <a:r>
              <a:rPr lang="en-US" sz="1100" b="1" dirty="0">
                <a:highlight>
                  <a:srgbClr val="FFFFFF"/>
                </a:highlight>
              </a:rPr>
              <a:t>Random Forest Regressor</a:t>
            </a:r>
            <a:r>
              <a:rPr lang="en-US" sz="1100" dirty="0">
                <a:highlight>
                  <a:srgbClr val="FFFFFF"/>
                </a:highlight>
              </a:rPr>
              <a:t> remains the </a:t>
            </a:r>
            <a:r>
              <a:rPr lang="en-US" sz="1100" b="1" dirty="0">
                <a:highlight>
                  <a:srgbClr val="FFFFFF"/>
                </a:highlight>
              </a:rPr>
              <a:t>most robust and accurate model overall</a:t>
            </a:r>
            <a:r>
              <a:rPr lang="en-US" sz="1100" dirty="0">
                <a:highlight>
                  <a:srgbClr val="FFFFFF"/>
                </a:highlight>
              </a:rPr>
              <a:t>, even after tuning.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>
                <a:highlight>
                  <a:srgbClr val="FFFFFF"/>
                </a:highlight>
              </a:rPr>
              <a:t>Gradient Boosting Regressor</a:t>
            </a:r>
            <a:r>
              <a:rPr lang="en-US" sz="1100" dirty="0">
                <a:highlight>
                  <a:srgbClr val="FFFFFF"/>
                </a:highlight>
              </a:rPr>
              <a:t> benefited the most from tuning and now performs comparably.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b="1" dirty="0" err="1">
                <a:highlight>
                  <a:srgbClr val="FFFFFF"/>
                </a:highlight>
              </a:rPr>
              <a:t>CatBoost</a:t>
            </a:r>
            <a:r>
              <a:rPr lang="en-US" sz="1100" b="1" dirty="0">
                <a:highlight>
                  <a:srgbClr val="FFFFFF"/>
                </a:highlight>
              </a:rPr>
              <a:t> Regressor</a:t>
            </a:r>
            <a:r>
              <a:rPr lang="en-US" sz="1100" dirty="0">
                <a:highlight>
                  <a:srgbClr val="FFFFFF"/>
                </a:highlight>
              </a:rPr>
              <a:t> also showed reliable improvement with strong generalization.</a:t>
            </a:r>
          </a:p>
          <a:p>
            <a:pPr lvl="0" rtl="0">
              <a:spcBef>
                <a:spcPts val="0"/>
              </a:spcBef>
              <a:spcAft>
                <a:spcPts val="0"/>
              </a:spcAft>
            </a:pPr>
            <a:endParaRPr lang="en-US" sz="1100" dirty="0">
              <a:highlight>
                <a:srgbClr val="FFFFFF"/>
              </a:highlight>
              <a:latin typeface="+mj-lt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5446515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4">
          <a:extLst>
            <a:ext uri="{FF2B5EF4-FFF2-40B4-BE49-F238E27FC236}">
              <a16:creationId xmlns:a16="http://schemas.microsoft.com/office/drawing/2014/main" id="{DE6E20AD-A389-01C1-3BC2-E813A654D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37">
            <a:extLst>
              <a:ext uri="{FF2B5EF4-FFF2-40B4-BE49-F238E27FC236}">
                <a16:creationId xmlns:a16="http://schemas.microsoft.com/office/drawing/2014/main" id="{BF32117C-D255-A4E2-98BF-304B3B5CEB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68036" y="0"/>
            <a:ext cx="8229600" cy="4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dirty="0"/>
              <a:t>EVALUATION AND RESULT</a:t>
            </a:r>
            <a:endParaRPr dirty="0"/>
          </a:p>
        </p:txBody>
      </p:sp>
      <p:sp>
        <p:nvSpPr>
          <p:cNvPr id="1241" name="Google Shape;1241;p37">
            <a:extLst>
              <a:ext uri="{FF2B5EF4-FFF2-40B4-BE49-F238E27FC236}">
                <a16:creationId xmlns:a16="http://schemas.microsoft.com/office/drawing/2014/main" id="{9818341F-D6CE-FEBB-ACBC-156C35241A73}"/>
              </a:ext>
            </a:extLst>
          </p:cNvPr>
          <p:cNvSpPr txBox="1"/>
          <p:nvPr/>
        </p:nvSpPr>
        <p:spPr>
          <a:xfrm>
            <a:off x="3542852" y="1077923"/>
            <a:ext cx="5396345" cy="1801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b="1" dirty="0">
                <a:highlight>
                  <a:srgbClr val="FFFFFF"/>
                </a:highlight>
              </a:rPr>
              <a:t>Insight: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 err="1">
                <a:highlight>
                  <a:srgbClr val="FFFFFF"/>
                </a:highlight>
              </a:rPr>
              <a:t>Enginesize</a:t>
            </a:r>
            <a:r>
              <a:rPr lang="en-US" sz="1200" dirty="0">
                <a:highlight>
                  <a:srgbClr val="FFFFFF"/>
                </a:highlight>
              </a:rPr>
              <a:t> is by far the most influential feature, contributing around </a:t>
            </a:r>
            <a:r>
              <a:rPr lang="en-US" sz="1200" b="1" dirty="0">
                <a:highlight>
                  <a:srgbClr val="FFFFFF"/>
                </a:highlight>
              </a:rPr>
              <a:t>60%</a:t>
            </a:r>
            <a:r>
              <a:rPr lang="en-US" sz="1200" dirty="0">
                <a:highlight>
                  <a:srgbClr val="FFFFFF"/>
                </a:highlight>
              </a:rPr>
              <a:t> of the model’s predictive power.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 err="1">
                <a:highlight>
                  <a:srgbClr val="FFFFFF"/>
                </a:highlight>
              </a:rPr>
              <a:t>Curbweight</a:t>
            </a:r>
            <a:r>
              <a:rPr lang="en-US" sz="1200" dirty="0">
                <a:highlight>
                  <a:srgbClr val="FFFFFF"/>
                </a:highlight>
              </a:rPr>
              <a:t> is the second most important feature, with about </a:t>
            </a:r>
            <a:r>
              <a:rPr lang="en-US" sz="1200" b="1" dirty="0">
                <a:highlight>
                  <a:srgbClr val="FFFFFF"/>
                </a:highlight>
              </a:rPr>
              <a:t>30%</a:t>
            </a:r>
            <a:r>
              <a:rPr lang="en-US" sz="1200" dirty="0">
                <a:highlight>
                  <a:srgbClr val="FFFFFF"/>
                </a:highlight>
              </a:rPr>
              <a:t> importance.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highlight>
                  <a:srgbClr val="FFFFFF"/>
                </a:highlight>
              </a:rPr>
              <a:t>Other features such as </a:t>
            </a:r>
            <a:r>
              <a:rPr lang="en-US" sz="1200" b="1" dirty="0">
                <a:highlight>
                  <a:srgbClr val="FFFFFF"/>
                </a:highlight>
              </a:rPr>
              <a:t>horsepower</a:t>
            </a:r>
            <a:r>
              <a:rPr lang="en-US" sz="1200" dirty="0">
                <a:highlight>
                  <a:srgbClr val="FFFFFF"/>
                </a:highlight>
              </a:rPr>
              <a:t>, </a:t>
            </a:r>
            <a:r>
              <a:rPr lang="en-US" sz="1200" b="1" dirty="0" err="1">
                <a:highlight>
                  <a:srgbClr val="FFFFFF"/>
                </a:highlight>
              </a:rPr>
              <a:t>carlength</a:t>
            </a:r>
            <a:r>
              <a:rPr lang="en-US" sz="1200" dirty="0">
                <a:highlight>
                  <a:srgbClr val="FFFFFF"/>
                </a:highlight>
              </a:rPr>
              <a:t>, </a:t>
            </a:r>
            <a:r>
              <a:rPr lang="en-US" sz="1200" b="1" dirty="0">
                <a:highlight>
                  <a:srgbClr val="FFFFFF"/>
                </a:highlight>
              </a:rPr>
              <a:t>wheelbase</a:t>
            </a:r>
            <a:r>
              <a:rPr lang="en-US" sz="1200" dirty="0">
                <a:highlight>
                  <a:srgbClr val="FFFFFF"/>
                </a:highlight>
              </a:rPr>
              <a:t>, and </a:t>
            </a:r>
            <a:r>
              <a:rPr lang="en-US" sz="1200" b="1" dirty="0" err="1">
                <a:highlight>
                  <a:srgbClr val="FFFFFF"/>
                </a:highlight>
              </a:rPr>
              <a:t>carwidth</a:t>
            </a:r>
            <a:r>
              <a:rPr lang="en-US" sz="1200" dirty="0">
                <a:highlight>
                  <a:srgbClr val="FFFFFF"/>
                </a:highlight>
              </a:rPr>
              <a:t> have minimal impact on predicting car prices.</a:t>
            </a:r>
          </a:p>
          <a:p>
            <a: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highlight>
                <a:srgbClr val="FFFFFF"/>
              </a:highlight>
              <a:latin typeface="+mj-lt"/>
              <a:ea typeface="Roboto"/>
              <a:cs typeface="Roboto"/>
              <a:sym typeface="Roboto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1E4EE6E-09E8-0105-5386-D8B95E27C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803" y="591631"/>
            <a:ext cx="3085034" cy="2774318"/>
          </a:xfrm>
          <a:prstGeom prst="rect">
            <a:avLst/>
          </a:prstGeom>
        </p:spPr>
      </p:pic>
      <p:sp>
        <p:nvSpPr>
          <p:cNvPr id="2" name="Google Shape;1241;p37">
            <a:extLst>
              <a:ext uri="{FF2B5EF4-FFF2-40B4-BE49-F238E27FC236}">
                <a16:creationId xmlns:a16="http://schemas.microsoft.com/office/drawing/2014/main" id="{61DE90E8-7963-1456-CFC7-6E95208910D3}"/>
              </a:ext>
            </a:extLst>
          </p:cNvPr>
          <p:cNvSpPr txBox="1"/>
          <p:nvPr/>
        </p:nvSpPr>
        <p:spPr>
          <a:xfrm>
            <a:off x="689713" y="3476081"/>
            <a:ext cx="8031723" cy="1546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200" b="1" dirty="0"/>
              <a:t>Interpretation: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results indicate that </a:t>
            </a:r>
            <a:r>
              <a:rPr lang="en-US" sz="1200" b="1" dirty="0"/>
              <a:t>engine size</a:t>
            </a:r>
            <a:r>
              <a:rPr lang="en-US" sz="1200" dirty="0"/>
              <a:t> and </a:t>
            </a:r>
            <a:r>
              <a:rPr lang="en-US" sz="1200" b="1" dirty="0"/>
              <a:t>vehicle weight</a:t>
            </a:r>
            <a:r>
              <a:rPr lang="en-US" sz="1200" dirty="0"/>
              <a:t> are the key determinants of car price — larger engines and heavier cars tend to correlate with higher prices.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Features like </a:t>
            </a:r>
            <a:r>
              <a:rPr lang="en-US" sz="1200" b="1" dirty="0"/>
              <a:t>horsepower</a:t>
            </a:r>
            <a:r>
              <a:rPr lang="en-US" sz="1200" dirty="0"/>
              <a:t> and </a:t>
            </a:r>
            <a:r>
              <a:rPr lang="en-US" sz="1200" b="1" dirty="0"/>
              <a:t>car dimensions</a:t>
            </a:r>
            <a:r>
              <a:rPr lang="en-US" sz="1200" dirty="0"/>
              <a:t> (length, width, wheelbase) have comparatively smaller effects, meaning price variations are less sensitive to these factors when other main attributes are known.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The </a:t>
            </a:r>
            <a:r>
              <a:rPr lang="en-US" sz="1200" b="1" dirty="0"/>
              <a:t>Random Forest model</a:t>
            </a:r>
            <a:r>
              <a:rPr lang="en-US" sz="1200" dirty="0"/>
              <a:t> effectively identifies these dominant factors, confirming that performance and structural size are critical price drivers in this dataset.</a:t>
            </a:r>
          </a:p>
          <a:p>
            <a:endParaRPr lang="en-US" sz="1200" dirty="0">
              <a:highlight>
                <a:srgbClr val="FFFFFF"/>
              </a:highlight>
            </a:endParaRPr>
          </a:p>
          <a:p>
            <a:pPr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en-US" sz="1200" dirty="0">
              <a:highlight>
                <a:srgbClr val="FFFFFF"/>
              </a:highlight>
              <a:latin typeface="+mj-lt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122034104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Electric Car Infographics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81E552"/>
      </a:accent1>
      <a:accent2>
        <a:srgbClr val="59BD2F"/>
      </a:accent2>
      <a:accent3>
        <a:srgbClr val="03C8DF"/>
      </a:accent3>
      <a:accent4>
        <a:srgbClr val="029BD8"/>
      </a:accent4>
      <a:accent5>
        <a:srgbClr val="FFDA00"/>
      </a:accent5>
      <a:accent6>
        <a:srgbClr val="FD8714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282</TotalTime>
  <Words>2385</Words>
  <Application>Microsoft Office PowerPoint</Application>
  <PresentationFormat>On-screen Show (16:9)</PresentationFormat>
  <Paragraphs>319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Roboto</vt:lpstr>
      <vt:lpstr>Fira Sans</vt:lpstr>
      <vt:lpstr>Arial</vt:lpstr>
      <vt:lpstr>Simple Light</vt:lpstr>
      <vt:lpstr>Electric Car Infographics by Slidesgo</vt:lpstr>
      <vt:lpstr>Car Price Prediction and Key Determinants in the U.S. Market</vt:lpstr>
      <vt:lpstr>Content</vt:lpstr>
      <vt:lpstr>DATA INFORMATION</vt:lpstr>
      <vt:lpstr>1. Car price data dictionary</vt:lpstr>
      <vt:lpstr>EXPLORE DATA ANALYSIS</vt:lpstr>
      <vt:lpstr>EXPLORE DATA ANALYSIS</vt:lpstr>
      <vt:lpstr>EXPLORE DATA ANALYSIS</vt:lpstr>
      <vt:lpstr>EXPLORE DATA ANALYSIS</vt:lpstr>
      <vt:lpstr>EXPLORE DATA ANALYSIS</vt:lpstr>
      <vt:lpstr>EXPLORE DATA ANALYSIS</vt:lpstr>
      <vt:lpstr>EXPLORE DATA ANALYSIS</vt:lpstr>
      <vt:lpstr>EXPLORE DATA ANALYSIS</vt:lpstr>
      <vt:lpstr>EXPLORE DATA ANALYSIS</vt:lpstr>
      <vt:lpstr>EXPLORE DATA ANALYSIS</vt:lpstr>
      <vt:lpstr>EXPLORE DATA ANALYSIS</vt:lpstr>
      <vt:lpstr>EXPLORE DATA ANALYSIS</vt:lpstr>
      <vt:lpstr>EXPLORE DATA ANALYSIS</vt:lpstr>
      <vt:lpstr>MODEL SELECTION</vt:lpstr>
      <vt:lpstr>EVALUATION AND RESULT</vt:lpstr>
      <vt:lpstr>EVALUATION AND RESULT</vt:lpstr>
      <vt:lpstr>EVALUATION AND RESULT</vt:lpstr>
      <vt:lpstr>EVALUATION AND RESULT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Truong Hieu</cp:lastModifiedBy>
  <cp:revision>9</cp:revision>
  <dcterms:modified xsi:type="dcterms:W3CDTF">2025-10-31T13:15:11Z</dcterms:modified>
</cp:coreProperties>
</file>